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6" r:id="rId2"/>
    <p:sldId id="258" r:id="rId3"/>
    <p:sldId id="259" r:id="rId4"/>
    <p:sldId id="257" r:id="rId5"/>
    <p:sldId id="260" r:id="rId6"/>
    <p:sldId id="265" r:id="rId7"/>
    <p:sldId id="261" r:id="rId8"/>
    <p:sldId id="262" r:id="rId9"/>
    <p:sldId id="263" r:id="rId10"/>
    <p:sldId id="275" r:id="rId11"/>
    <p:sldId id="276" r:id="rId12"/>
    <p:sldId id="277" r:id="rId13"/>
    <p:sldId id="266" r:id="rId14"/>
    <p:sldId id="264" r:id="rId15"/>
    <p:sldId id="273" r:id="rId16"/>
    <p:sldId id="281" r:id="rId17"/>
    <p:sldId id="282" r:id="rId18"/>
    <p:sldId id="274" r:id="rId19"/>
    <p:sldId id="283" r:id="rId20"/>
    <p:sldId id="284" r:id="rId21"/>
    <p:sldId id="268" r:id="rId22"/>
    <p:sldId id="285" r:id="rId23"/>
    <p:sldId id="271" r:id="rId24"/>
    <p:sldId id="272"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67676" autoAdjust="0"/>
  </p:normalViewPr>
  <p:slideViewPr>
    <p:cSldViewPr snapToGrid="0" snapToObjects="1">
      <p:cViewPr>
        <p:scale>
          <a:sx n="100" d="100"/>
          <a:sy n="100" d="100"/>
        </p:scale>
        <p:origin x="99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E8E5D-D3A5-3342-8F37-0CCB0B2166DC}"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B7D12-F86E-7345-9BEC-F2F13F17B346}" type="slidenum">
              <a:rPr lang="en-US" smtClean="0"/>
              <a:t>‹#›</a:t>
            </a:fld>
            <a:endParaRPr lang="en-US"/>
          </a:p>
        </p:txBody>
      </p:sp>
    </p:spTree>
    <p:extLst>
      <p:ext uri="{BB962C8B-B14F-4D97-AF65-F5344CB8AC3E}">
        <p14:creationId xmlns:p14="http://schemas.microsoft.com/office/powerpoint/2010/main" val="907904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Morning Professor, this is my project title</a:t>
            </a:r>
            <a:br>
              <a:rPr lang="en-US" dirty="0"/>
            </a:br>
            <a:r>
              <a:rPr lang="en-US" dirty="0"/>
              <a:t>let start </a:t>
            </a:r>
            <a:r>
              <a:rPr lang="en-US" altLang="zh-CN" dirty="0"/>
              <a:t>the</a:t>
            </a:r>
            <a:r>
              <a:rPr lang="en-US" dirty="0"/>
              <a:t> content</a:t>
            </a:r>
          </a:p>
        </p:txBody>
      </p:sp>
      <p:sp>
        <p:nvSpPr>
          <p:cNvPr id="4" name="Slide Number Placeholder 3"/>
          <p:cNvSpPr>
            <a:spLocks noGrp="1"/>
          </p:cNvSpPr>
          <p:nvPr>
            <p:ph type="sldNum" sz="quarter" idx="5"/>
          </p:nvPr>
        </p:nvSpPr>
        <p:spPr/>
        <p:txBody>
          <a:bodyPr/>
          <a:lstStyle/>
          <a:p>
            <a:fld id="{9BFB7D12-F86E-7345-9BEC-F2F13F17B346}" type="slidenum">
              <a:rPr lang="en-US" smtClean="0"/>
              <a:t>1</a:t>
            </a:fld>
            <a:endParaRPr lang="en-US"/>
          </a:p>
        </p:txBody>
      </p:sp>
    </p:spTree>
    <p:extLst>
      <p:ext uri="{BB962C8B-B14F-4D97-AF65-F5344CB8AC3E}">
        <p14:creationId xmlns:p14="http://schemas.microsoft.com/office/powerpoint/2010/main" val="2129989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First introduction, let’s see what </a:t>
            </a:r>
            <a:r>
              <a:rPr lang="en-MY" dirty="0" err="1"/>
              <a:t>im</a:t>
            </a:r>
            <a:r>
              <a:rPr lang="en-MY" dirty="0"/>
              <a:t> trying to solve</a:t>
            </a:r>
          </a:p>
        </p:txBody>
      </p:sp>
      <p:sp>
        <p:nvSpPr>
          <p:cNvPr id="4" name="Slide Number Placeholder 3"/>
          <p:cNvSpPr>
            <a:spLocks noGrp="1"/>
          </p:cNvSpPr>
          <p:nvPr>
            <p:ph type="sldNum" sz="quarter" idx="5"/>
          </p:nvPr>
        </p:nvSpPr>
        <p:spPr/>
        <p:txBody>
          <a:bodyPr/>
          <a:lstStyle/>
          <a:p>
            <a:fld id="{9BFB7D12-F86E-7345-9BEC-F2F13F17B346}" type="slidenum">
              <a:rPr lang="en-US" smtClean="0"/>
              <a:t>2</a:t>
            </a:fld>
            <a:endParaRPr lang="en-US"/>
          </a:p>
        </p:txBody>
      </p:sp>
    </p:spTree>
    <p:extLst>
      <p:ext uri="{BB962C8B-B14F-4D97-AF65-F5344CB8AC3E}">
        <p14:creationId xmlns:p14="http://schemas.microsoft.com/office/powerpoint/2010/main" val="125230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 can see here is some people waiting the lift</a:t>
            </a:r>
          </a:p>
        </p:txBody>
      </p:sp>
      <p:sp>
        <p:nvSpPr>
          <p:cNvPr id="4" name="Slide Number Placeholder 3"/>
          <p:cNvSpPr>
            <a:spLocks noGrp="1"/>
          </p:cNvSpPr>
          <p:nvPr>
            <p:ph type="sldNum" sz="quarter" idx="5"/>
          </p:nvPr>
        </p:nvSpPr>
        <p:spPr/>
        <p:txBody>
          <a:bodyPr/>
          <a:lstStyle/>
          <a:p>
            <a:fld id="{9BFB7D12-F86E-7345-9BEC-F2F13F17B346}" type="slidenum">
              <a:rPr lang="en-US" smtClean="0"/>
              <a:t>3</a:t>
            </a:fld>
            <a:endParaRPr lang="en-US"/>
          </a:p>
        </p:txBody>
      </p:sp>
    </p:spTree>
    <p:extLst>
      <p:ext uri="{BB962C8B-B14F-4D97-AF65-F5344CB8AC3E}">
        <p14:creationId xmlns:p14="http://schemas.microsoft.com/office/powerpoint/2010/main" val="1942240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the traditional elevator control strategy, the lift just stays at where the last passenger is unloaded</a:t>
            </a:r>
          </a:p>
          <a:p>
            <a:br>
              <a:rPr lang="en-MY" dirty="0"/>
            </a:br>
            <a:r>
              <a:rPr lang="en-MY" dirty="0"/>
              <a:t>This makes the idle elevators often stay at low-demand frequency floors, usually the upper floor</a:t>
            </a:r>
          </a:p>
          <a:p>
            <a:endParaRPr lang="en-MY" dirty="0"/>
          </a:p>
          <a:p>
            <a:r>
              <a:rPr lang="en-MY" dirty="0"/>
              <a:t>When a high-demand frequency floor, for example, the ground floor making calls, the elevator needs to take time to reach the calling floor, therefore causing waiting time increased</a:t>
            </a:r>
          </a:p>
          <a:p>
            <a:endParaRPr lang="en-MY" dirty="0"/>
          </a:p>
          <a:p>
            <a:r>
              <a:rPr lang="en-MY" dirty="0"/>
              <a:t>When the buildings become taller, this situation becomes worse</a:t>
            </a:r>
          </a:p>
        </p:txBody>
      </p:sp>
      <p:sp>
        <p:nvSpPr>
          <p:cNvPr id="4" name="Slide Number Placeholder 3"/>
          <p:cNvSpPr>
            <a:spLocks noGrp="1"/>
          </p:cNvSpPr>
          <p:nvPr>
            <p:ph type="sldNum" sz="quarter" idx="5"/>
          </p:nvPr>
        </p:nvSpPr>
        <p:spPr/>
        <p:txBody>
          <a:bodyPr/>
          <a:lstStyle/>
          <a:p>
            <a:fld id="{9BFB7D12-F86E-7345-9BEC-F2F13F17B346}" type="slidenum">
              <a:rPr lang="en-US" smtClean="0"/>
              <a:t>4</a:t>
            </a:fld>
            <a:endParaRPr lang="en-US"/>
          </a:p>
        </p:txBody>
      </p:sp>
    </p:spTree>
    <p:extLst>
      <p:ext uri="{BB962C8B-B14F-4D97-AF65-F5344CB8AC3E}">
        <p14:creationId xmlns:p14="http://schemas.microsoft.com/office/powerpoint/2010/main" val="3595826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My solution is a predictive standby dispatch strategy</a:t>
            </a:r>
          </a:p>
          <a:p>
            <a:endParaRPr lang="en-MY" dirty="0"/>
          </a:p>
          <a:p>
            <a:r>
              <a:rPr lang="en-MY" dirty="0"/>
              <a:t>Using a predictor to allow the elevator to predict future calls and reposition the idle elevator according to the predicted calls</a:t>
            </a:r>
          </a:p>
          <a:p>
            <a:endParaRPr lang="en-MY" dirty="0"/>
          </a:p>
          <a:p>
            <a:r>
              <a:rPr lang="en-MY" dirty="0"/>
              <a:t>Send the lift before passenger makes call, therefore reducing users’ waiting time</a:t>
            </a:r>
          </a:p>
        </p:txBody>
      </p:sp>
      <p:sp>
        <p:nvSpPr>
          <p:cNvPr id="4" name="Slide Number Placeholder 3"/>
          <p:cNvSpPr>
            <a:spLocks noGrp="1"/>
          </p:cNvSpPr>
          <p:nvPr>
            <p:ph type="sldNum" sz="quarter" idx="5"/>
          </p:nvPr>
        </p:nvSpPr>
        <p:spPr/>
        <p:txBody>
          <a:bodyPr/>
          <a:lstStyle/>
          <a:p>
            <a:fld id="{9BFB7D12-F86E-7345-9BEC-F2F13F17B346}" type="slidenum">
              <a:rPr lang="en-US" smtClean="0"/>
              <a:t>5</a:t>
            </a:fld>
            <a:endParaRPr lang="en-US"/>
          </a:p>
        </p:txBody>
      </p:sp>
    </p:spTree>
    <p:extLst>
      <p:ext uri="{BB962C8B-B14F-4D97-AF65-F5344CB8AC3E}">
        <p14:creationId xmlns:p14="http://schemas.microsoft.com/office/powerpoint/2010/main" val="240542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And the following is the problem statement, research questions and objectives</a:t>
            </a:r>
          </a:p>
        </p:txBody>
      </p:sp>
      <p:sp>
        <p:nvSpPr>
          <p:cNvPr id="4" name="Slide Number Placeholder 3"/>
          <p:cNvSpPr>
            <a:spLocks noGrp="1"/>
          </p:cNvSpPr>
          <p:nvPr>
            <p:ph type="sldNum" sz="quarter" idx="5"/>
          </p:nvPr>
        </p:nvSpPr>
        <p:spPr/>
        <p:txBody>
          <a:bodyPr/>
          <a:lstStyle/>
          <a:p>
            <a:fld id="{9BFB7D12-F86E-7345-9BEC-F2F13F17B346}" type="slidenum">
              <a:rPr lang="en-US" smtClean="0"/>
              <a:t>6</a:t>
            </a:fld>
            <a:endParaRPr lang="en-US"/>
          </a:p>
        </p:txBody>
      </p:sp>
    </p:spTree>
    <p:extLst>
      <p:ext uri="{BB962C8B-B14F-4D97-AF65-F5344CB8AC3E}">
        <p14:creationId xmlns:p14="http://schemas.microsoft.com/office/powerpoint/2010/main" val="1924234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First is the Waiting Time Gap, a traditional elevator control system is reactive, which means it only sends the lift when a call is received, the time gap for the elevator reaching the calling floors cannot be eliminated</a:t>
            </a:r>
          </a:p>
          <a:p>
            <a:endParaRPr lang="en-MY" dirty="0"/>
          </a:p>
          <a:p>
            <a:r>
              <a:rPr lang="en-MY" dirty="0"/>
              <a:t>Second is the </a:t>
            </a:r>
            <a:r>
              <a:rPr lang="en-MY" b="1" dirty="0">
                <a:solidFill>
                  <a:schemeClr val="accent2"/>
                </a:solidFill>
              </a:rPr>
              <a:t>System’s Effectiveness in different scenarios</a:t>
            </a:r>
            <a:r>
              <a:rPr lang="en-MY" dirty="0"/>
              <a:t>, because the system only repositions the lift when it is idle, hence in a demand-saturated scenarios, which mean the lifts are barely empty, the system might not help</a:t>
            </a:r>
          </a:p>
          <a:p>
            <a:endParaRPr lang="en-MY" dirty="0"/>
          </a:p>
          <a:p>
            <a:r>
              <a:rPr lang="en-MY" dirty="0"/>
              <a:t>Last is the cost-benefit balance, because we are going to reposition the idle elevator, it can be expected that waiting time can be reduced significantly if we send the elevator to stand by at every possible floor, even the possibility is very low, but this might cause increase of cost, hence we need to find a way to balance between cost and waiting time reduction</a:t>
            </a:r>
          </a:p>
          <a:p>
            <a:endParaRPr lang="en-MY" dirty="0"/>
          </a:p>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7</a:t>
            </a:fld>
            <a:endParaRPr lang="en-US"/>
          </a:p>
        </p:txBody>
      </p:sp>
    </p:spTree>
    <p:extLst>
      <p:ext uri="{BB962C8B-B14F-4D97-AF65-F5344CB8AC3E}">
        <p14:creationId xmlns:p14="http://schemas.microsoft.com/office/powerpoint/2010/main" val="1572357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8</a:t>
            </a:fld>
            <a:endParaRPr lang="en-US"/>
          </a:p>
        </p:txBody>
      </p:sp>
    </p:spTree>
    <p:extLst>
      <p:ext uri="{BB962C8B-B14F-4D97-AF65-F5344CB8AC3E}">
        <p14:creationId xmlns:p14="http://schemas.microsoft.com/office/powerpoint/2010/main" val="4213704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Because I cannot find a work that completely fits with my project, therefore, I search for some previous research that trying to optimise elevator dispatch strategy</a:t>
            </a:r>
            <a:br>
              <a:rPr lang="en-MY" dirty="0"/>
            </a:br>
            <a:r>
              <a:rPr lang="en-MY" dirty="0"/>
              <a:t>I also look for the dataset they have used, to see if there is a dataset that I can use on my work</a:t>
            </a:r>
          </a:p>
          <a:p>
            <a:r>
              <a:rPr lang="en-MY" dirty="0"/>
              <a:t>I also compare different predictor to see which is the best fit for my work</a:t>
            </a:r>
          </a:p>
          <a:p>
            <a:endParaRPr lang="en-MY" dirty="0"/>
          </a:p>
          <a:p>
            <a:r>
              <a:rPr lang="en-MY" dirty="0"/>
              <a:t>First is the previous optimisation strategies, I categorise them into reactive and proactive, reactive only respond after call while proactive take action before call. </a:t>
            </a:r>
          </a:p>
          <a:p>
            <a:r>
              <a:rPr lang="en-MY" dirty="0"/>
              <a:t>In reactive, one uses computer vision for elevator occupancy-awareness, which makes the elevator not only rely on weight to detect occupancy.</a:t>
            </a:r>
          </a:p>
          <a:p>
            <a:r>
              <a:rPr lang="en-MY" dirty="0"/>
              <a:t>There is also using reinforcement learning to optimise the dispatch strategy, replacing the traditional rule-based dispatch strategy</a:t>
            </a:r>
          </a:p>
          <a:p>
            <a:endParaRPr lang="en-MY" dirty="0"/>
          </a:p>
          <a:p>
            <a:r>
              <a:rPr lang="en-MY" dirty="0"/>
              <a:t>In proactive, the first research is quite close to my project, but they using a scoring system by </a:t>
            </a:r>
            <a:r>
              <a:rPr lang="en-MY" dirty="0" err="1"/>
              <a:t>by</a:t>
            </a:r>
            <a:r>
              <a:rPr lang="en-MY" dirty="0"/>
              <a:t> themselves to calculate the probability of future call</a:t>
            </a:r>
          </a:p>
          <a:p>
            <a:r>
              <a:rPr lang="en-MY" dirty="0"/>
              <a:t>Another is using a transformer to predict when the passenger arrives at the lift, but it is predicted based on the trajectory of the passenger, which means it requires an extra sensor to detect the passenger’s position</a:t>
            </a:r>
          </a:p>
          <a:p>
            <a:endParaRPr lang="en-MY" dirty="0"/>
          </a:p>
          <a:p>
            <a:r>
              <a:rPr lang="en-MY" dirty="0"/>
              <a:t>Come to the dataset</a:t>
            </a:r>
          </a:p>
          <a:p>
            <a:r>
              <a:rPr lang="en-MY" dirty="0"/>
              <a:t>All the previous studies that used elevator call data are using simulated datasets, but their simulator strategies are slightly different. In the RL research, they simulate arrival with Poisson process, while the standby floor scoring system use a Gaussian-based formula. Because </a:t>
            </a:r>
            <a:r>
              <a:rPr lang="en-MY" dirty="0" err="1"/>
              <a:t>im</a:t>
            </a:r>
            <a:r>
              <a:rPr lang="en-MY" dirty="0"/>
              <a:t> going to use the Gaussian-based formula too, so, I will show it later</a:t>
            </a:r>
          </a:p>
          <a:p>
            <a:endParaRPr lang="en-MY" dirty="0"/>
          </a:p>
          <a:p>
            <a:r>
              <a:rPr lang="en-MY" dirty="0"/>
              <a:t> About the predictor, I have looked for statistical models, RNNs, tcn and transformer. Statistical model for sequential task, basically the ARIMA and SARIMA. They are useful but are designed for the regression task, while my project is a multi-label classification task. RNNs, also useful but they tend to struggle with the gradient explosion and vanishing problem, GRU is better, but also struggles with this problem.  Also RNNs are not quite fit to multi-label task, for multi-label task it is better to use a hybrid RNN model.</a:t>
            </a:r>
          </a:p>
          <a:p>
            <a:endParaRPr lang="en-MY" dirty="0"/>
          </a:p>
          <a:p>
            <a:r>
              <a:rPr lang="en-MY" dirty="0"/>
              <a:t>TCN can capture longer range of dependencies compared to RNN and they also have a high training efficiency. Which make it a idea model for my task.</a:t>
            </a:r>
          </a:p>
        </p:txBody>
      </p:sp>
      <p:sp>
        <p:nvSpPr>
          <p:cNvPr id="4" name="Slide Number Placeholder 3"/>
          <p:cNvSpPr>
            <a:spLocks noGrp="1"/>
          </p:cNvSpPr>
          <p:nvPr>
            <p:ph type="sldNum" sz="quarter" idx="5"/>
          </p:nvPr>
        </p:nvSpPr>
        <p:spPr/>
        <p:txBody>
          <a:bodyPr/>
          <a:lstStyle/>
          <a:p>
            <a:fld id="{9BFB7D12-F86E-7345-9BEC-F2F13F17B346}" type="slidenum">
              <a:rPr lang="en-US" smtClean="0"/>
              <a:t>11</a:t>
            </a:fld>
            <a:endParaRPr lang="en-US"/>
          </a:p>
        </p:txBody>
      </p:sp>
    </p:spTree>
    <p:extLst>
      <p:ext uri="{BB962C8B-B14F-4D97-AF65-F5344CB8AC3E}">
        <p14:creationId xmlns:p14="http://schemas.microsoft.com/office/powerpoint/2010/main" val="1487130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Transformers are very good but it require a lot of computation and memory.</a:t>
            </a:r>
          </a:p>
          <a:p>
            <a:endParaRPr lang="en-MY" dirty="0"/>
          </a:p>
          <a:p>
            <a:r>
              <a:rPr lang="en-MY" dirty="0"/>
              <a:t>I also found some interesting studies, first is a encoder-decoder separated LSTM structure. They used two separated LSTM, one as encoder, one as decoder, so when they need to fit the model to different length of output window, they can use transfer learning, freeze the encoder and train the decoder only. If I want to try different length of output window, I can try this strategy also.</a:t>
            </a:r>
          </a:p>
          <a:p>
            <a:endParaRPr lang="en-MY" dirty="0"/>
          </a:p>
          <a:p>
            <a:r>
              <a:rPr lang="en-MY" dirty="0"/>
              <a:t>Another one is hybrid model, GRU-TCN, because GRU is not well fit for multi-label task, they combine GRU-TCN together, and found that it outperform both GRU and TCN.</a:t>
            </a:r>
          </a:p>
        </p:txBody>
      </p:sp>
      <p:sp>
        <p:nvSpPr>
          <p:cNvPr id="4" name="Slide Number Placeholder 3"/>
          <p:cNvSpPr>
            <a:spLocks noGrp="1"/>
          </p:cNvSpPr>
          <p:nvPr>
            <p:ph type="sldNum" sz="quarter" idx="5"/>
          </p:nvPr>
        </p:nvSpPr>
        <p:spPr/>
        <p:txBody>
          <a:bodyPr/>
          <a:lstStyle/>
          <a:p>
            <a:fld id="{9BFB7D12-F86E-7345-9BEC-F2F13F17B346}" type="slidenum">
              <a:rPr lang="en-US" smtClean="0"/>
              <a:t>12</a:t>
            </a:fld>
            <a:endParaRPr lang="en-US"/>
          </a:p>
        </p:txBody>
      </p:sp>
    </p:spTree>
    <p:extLst>
      <p:ext uri="{BB962C8B-B14F-4D97-AF65-F5344CB8AC3E}">
        <p14:creationId xmlns:p14="http://schemas.microsoft.com/office/powerpoint/2010/main" val="771992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13</a:t>
            </a:fld>
            <a:endParaRPr lang="en-US"/>
          </a:p>
        </p:txBody>
      </p:sp>
    </p:spTree>
    <p:extLst>
      <p:ext uri="{BB962C8B-B14F-4D97-AF65-F5344CB8AC3E}">
        <p14:creationId xmlns:p14="http://schemas.microsoft.com/office/powerpoint/2010/main" val="3959854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To train the predictor , first I need to simulate the passenger arrivals.</a:t>
            </a:r>
          </a:p>
          <a:p>
            <a:endParaRPr lang="en-MY" dirty="0"/>
          </a:p>
          <a:p>
            <a:r>
              <a:rPr lang="en-MY" dirty="0"/>
              <a:t>First, I will use a Gaussian Based formula to decide the arrival rate for each time.</a:t>
            </a:r>
          </a:p>
          <a:p>
            <a:endParaRPr lang="en-MY" dirty="0"/>
          </a:p>
          <a:p>
            <a:r>
              <a:rPr lang="en-MY" dirty="0"/>
              <a:t>The formula is consist of three blocks, each is a </a:t>
            </a:r>
            <a:r>
              <a:rPr lang="en-MY" dirty="0" err="1"/>
              <a:t>Gaussion</a:t>
            </a:r>
            <a:r>
              <a:rPr lang="en-MY" dirty="0"/>
              <a:t> distribution. </a:t>
            </a:r>
          </a:p>
          <a:p>
            <a:endParaRPr lang="en-MY" dirty="0"/>
          </a:p>
          <a:p>
            <a:r>
              <a:rPr lang="en-MY" dirty="0"/>
              <a:t>After the arrival rate is decide, the passenger traffic pattern, where the arrive and where they heading, will be determine by time period. </a:t>
            </a:r>
          </a:p>
          <a:p>
            <a:r>
              <a:rPr lang="en-MY" dirty="0"/>
              <a:t>In the morning up-peak period, mainly moves upward. In the lunchtime period, mainly inter-floor travels. While in evening period, mainly downward movement.</a:t>
            </a:r>
          </a:p>
          <a:p>
            <a:endParaRPr lang="en-MY" dirty="0"/>
          </a:p>
          <a:p>
            <a:r>
              <a:rPr lang="en-MY" dirty="0"/>
              <a:t>I will generate two set of data with different demand level, by changing the A , amplitude in the formula. To train and test the system in different scenarios.</a:t>
            </a:r>
          </a:p>
        </p:txBody>
      </p:sp>
      <p:sp>
        <p:nvSpPr>
          <p:cNvPr id="4" name="Slide Number Placeholder 3"/>
          <p:cNvSpPr>
            <a:spLocks noGrp="1"/>
          </p:cNvSpPr>
          <p:nvPr>
            <p:ph type="sldNum" sz="quarter" idx="5"/>
          </p:nvPr>
        </p:nvSpPr>
        <p:spPr/>
        <p:txBody>
          <a:bodyPr/>
          <a:lstStyle/>
          <a:p>
            <a:fld id="{9BFB7D12-F86E-7345-9BEC-F2F13F17B346}" type="slidenum">
              <a:rPr lang="en-US" smtClean="0"/>
              <a:t>14</a:t>
            </a:fld>
            <a:endParaRPr lang="en-US"/>
          </a:p>
        </p:txBody>
      </p:sp>
    </p:spTree>
    <p:extLst>
      <p:ext uri="{BB962C8B-B14F-4D97-AF65-F5344CB8AC3E}">
        <p14:creationId xmlns:p14="http://schemas.microsoft.com/office/powerpoint/2010/main" val="1012531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9BFB7D12-F86E-7345-9BEC-F2F13F17B346}" type="slidenum">
              <a:rPr lang="en-US" smtClean="0"/>
              <a:t>15</a:t>
            </a:fld>
            <a:endParaRPr lang="en-US"/>
          </a:p>
        </p:txBody>
      </p:sp>
    </p:spTree>
    <p:extLst>
      <p:ext uri="{BB962C8B-B14F-4D97-AF65-F5344CB8AC3E}">
        <p14:creationId xmlns:p14="http://schemas.microsoft.com/office/powerpoint/2010/main" val="362976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aimlstudies.co.uk/index.php/jaira/article/view/70/" TargetMode="External"/><Relationship Id="rId3" Type="http://schemas.openxmlformats.org/officeDocument/2006/relationships/hyperlink" Target="http://papers.nips.cc/paper/1073-improving-elevator-performance-using-reinforcement-learning.pdf" TargetMode="External"/><Relationship Id="rId7" Type="http://schemas.openxmlformats.org/officeDocument/2006/relationships/hyperlink" Target="https://doi.org/10.3390/machines12060380" TargetMode="External"/><Relationship Id="rId2" Type="http://schemas.openxmlformats.org/officeDocument/2006/relationships/hyperlink" Target="https://doi.org/10.1016/j.aei.2021.101286" TargetMode="External"/><Relationship Id="rId1" Type="http://schemas.openxmlformats.org/officeDocument/2006/relationships/slideLayout" Target="../slideLayouts/slideLayout2.xml"/><Relationship Id="rId6" Type="http://schemas.openxmlformats.org/officeDocument/2006/relationships/hyperlink" Target="https://doi.org/10.1016/j.physd.2019.132306" TargetMode="External"/><Relationship Id="rId11" Type="http://schemas.openxmlformats.org/officeDocument/2006/relationships/hyperlink" Target="https://doi.org/10.48550/arxiv.2110.04414" TargetMode="External"/><Relationship Id="rId5" Type="http://schemas.openxmlformats.org/officeDocument/2006/relationships/hyperlink" Target="https://doi.org/10.23919/ecc55457.2022.9838059" TargetMode="External"/><Relationship Id="rId10" Type="http://schemas.openxmlformats.org/officeDocument/2006/relationships/hyperlink" Target="https://doi.org/10.36001/ijphm.2019.v10i4.2611" TargetMode="External"/><Relationship Id="rId4" Type="http://schemas.openxmlformats.org/officeDocument/2006/relationships/hyperlink" Target="https://doi.org/10.3390/asi8050132" TargetMode="External"/><Relationship Id="rId9" Type="http://schemas.openxmlformats.org/officeDocument/2006/relationships/hyperlink" Target="https://doi.org/10.1007/s13042-025-02560-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3EAC6-6774-DE4F-A185-E7F376B14C31}"/>
              </a:ext>
            </a:extLst>
          </p:cNvPr>
          <p:cNvSpPr>
            <a:spLocks noGrp="1"/>
          </p:cNvSpPr>
          <p:nvPr>
            <p:ph type="ctrTitle"/>
          </p:nvPr>
        </p:nvSpPr>
        <p:spPr>
          <a:xfrm>
            <a:off x="-278162" y="2149148"/>
            <a:ext cx="9909544" cy="2307093"/>
          </a:xfrm>
        </p:spPr>
        <p:txBody>
          <a:bodyPr/>
          <a:lstStyle/>
          <a:p>
            <a:r>
              <a:rPr lang="en-MY" sz="4800" b="1" dirty="0"/>
              <a:t>Predictive Standby Dispatch: </a:t>
            </a:r>
            <a:br>
              <a:rPr lang="en-MY" sz="4800" b="1" dirty="0"/>
            </a:br>
            <a:r>
              <a:rPr lang="en-MY" sz="4800" b="1" dirty="0"/>
              <a:t>Machine Learning-based</a:t>
            </a:r>
            <a:r>
              <a:rPr lang="zh-CN" altLang="en-US" sz="4800" b="1" dirty="0"/>
              <a:t> </a:t>
            </a:r>
            <a:r>
              <a:rPr lang="en-MY" sz="4800" b="1" dirty="0"/>
              <a:t>Smart Elevator Idle</a:t>
            </a:r>
            <a:r>
              <a:rPr lang="zh-CN" altLang="en-US" sz="4800" b="1" dirty="0"/>
              <a:t> </a:t>
            </a:r>
            <a:r>
              <a:rPr lang="en-MY" sz="4800" b="1" dirty="0"/>
              <a:t>Positioning</a:t>
            </a:r>
            <a:endParaRPr lang="en-US" sz="4800" dirty="0"/>
          </a:p>
        </p:txBody>
      </p:sp>
      <p:graphicFrame>
        <p:nvGraphicFramePr>
          <p:cNvPr id="5" name="Table 4">
            <a:extLst>
              <a:ext uri="{FF2B5EF4-FFF2-40B4-BE49-F238E27FC236}">
                <a16:creationId xmlns:a16="http://schemas.microsoft.com/office/drawing/2014/main" id="{1A8B33D4-39CC-8D48-9478-2431B34618D8}"/>
              </a:ext>
            </a:extLst>
          </p:cNvPr>
          <p:cNvGraphicFramePr>
            <a:graphicFrameLocks noGrp="1"/>
          </p:cNvGraphicFramePr>
          <p:nvPr>
            <p:extLst>
              <p:ext uri="{D42A27DB-BD31-4B8C-83A1-F6EECF244321}">
                <p14:modId xmlns:p14="http://schemas.microsoft.com/office/powerpoint/2010/main" val="3986330974"/>
              </p:ext>
            </p:extLst>
          </p:nvPr>
        </p:nvGraphicFramePr>
        <p:xfrm>
          <a:off x="3719172" y="5106131"/>
          <a:ext cx="3994234" cy="881127"/>
        </p:xfrm>
        <a:graphic>
          <a:graphicData uri="http://schemas.openxmlformats.org/drawingml/2006/table">
            <a:tbl>
              <a:tblPr firstRow="1" firstCol="1" bandRow="1"/>
              <a:tblGrid>
                <a:gridCol w="1541347">
                  <a:extLst>
                    <a:ext uri="{9D8B030D-6E8A-4147-A177-3AD203B41FA5}">
                      <a16:colId xmlns:a16="http://schemas.microsoft.com/office/drawing/2014/main" val="1962723837"/>
                    </a:ext>
                  </a:extLst>
                </a:gridCol>
                <a:gridCol w="262647">
                  <a:extLst>
                    <a:ext uri="{9D8B030D-6E8A-4147-A177-3AD203B41FA5}">
                      <a16:colId xmlns:a16="http://schemas.microsoft.com/office/drawing/2014/main" val="2368928823"/>
                    </a:ext>
                  </a:extLst>
                </a:gridCol>
                <a:gridCol w="2190240">
                  <a:extLst>
                    <a:ext uri="{9D8B030D-6E8A-4147-A177-3AD203B41FA5}">
                      <a16:colId xmlns:a16="http://schemas.microsoft.com/office/drawing/2014/main" val="3827831485"/>
                    </a:ext>
                  </a:extLst>
                </a:gridCol>
              </a:tblGrid>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Student Name</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8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TEN YEE CHERN</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3604754347"/>
                  </a:ext>
                </a:extLst>
              </a:tr>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Student ID</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8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0381084</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1519356491"/>
                  </a:ext>
                </a:extLst>
              </a:tr>
              <a:tr h="0">
                <a:tc>
                  <a:txBody>
                    <a:bodyPr/>
                    <a:lstStyle/>
                    <a:p>
                      <a:pPr>
                        <a:lnSpc>
                          <a:spcPct val="115000"/>
                        </a:lnSpc>
                        <a:spcAft>
                          <a:spcPts val="0"/>
                        </a:spcAft>
                      </a:pPr>
                      <a:r>
                        <a:rPr lang="en-US" sz="180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Supervisor</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tc>
                  <a:txBody>
                    <a:bodyPr/>
                    <a:lstStyle/>
                    <a:p>
                      <a:pPr>
                        <a:lnSpc>
                          <a:spcPct val="115000"/>
                        </a:lnSpc>
                        <a:spcAft>
                          <a:spcPts val="0"/>
                        </a:spcAft>
                      </a:pPr>
                      <a:r>
                        <a:rPr lang="en-US" sz="1600">
                          <a:solidFill>
                            <a:srgbClr val="000000"/>
                          </a:solidFill>
                          <a:effectLst/>
                          <a:latin typeface="Calibri" panose="020F0502020204030204" pitchFamily="34" charset="0"/>
                          <a:ea typeface="SimSun" panose="02010600030101010101" pitchFamily="2" charset="-122"/>
                          <a:cs typeface="Latha" panose="020B0604020202020204" pitchFamily="34" charset="0"/>
                        </a:rPr>
                        <a:t>:</a:t>
                      </a:r>
                      <a:endParaRPr lang="en-US" sz="1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lnL>
                      <a:noFill/>
                    </a:lnL>
                    <a:lnR>
                      <a:noFill/>
                    </a:lnR>
                    <a:lnT>
                      <a:noFill/>
                    </a:lnT>
                    <a:lnB>
                      <a:noFill/>
                    </a:lnB>
                  </a:tcPr>
                </a:tc>
                <a:tc>
                  <a:txBody>
                    <a:bodyPr/>
                    <a:lstStyle/>
                    <a:p>
                      <a:pPr>
                        <a:lnSpc>
                          <a:spcPct val="115000"/>
                        </a:lnSpc>
                        <a:spcAft>
                          <a:spcPts val="0"/>
                        </a:spcAft>
                      </a:pPr>
                      <a:r>
                        <a:rPr lang="en-US" sz="16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Prof. </a:t>
                      </a:r>
                      <a:r>
                        <a:rPr lang="en-US" sz="1600" dirty="0" err="1">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Afizan</a:t>
                      </a:r>
                      <a:r>
                        <a:rPr lang="en-US" sz="1600" dirty="0">
                          <a:solidFill>
                            <a:srgbClr val="000000"/>
                          </a:solidFill>
                          <a:effectLst/>
                          <a:latin typeface="Times New Roman" panose="02020603050405020304" pitchFamily="18" charset="0"/>
                          <a:ea typeface="Times New Roman" panose="02020603050405020304" pitchFamily="18" charset="0"/>
                          <a:cs typeface="Latha" panose="020B0604020202020204" pitchFamily="34" charset="0"/>
                        </a:rPr>
                        <a:t> Azman</a:t>
                      </a:r>
                      <a:endParaRPr lang="en-US" sz="1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3478266071"/>
                  </a:ext>
                </a:extLst>
              </a:tr>
            </a:tbl>
          </a:graphicData>
        </a:graphic>
      </p:graphicFrame>
    </p:spTree>
    <p:extLst>
      <p:ext uri="{BB962C8B-B14F-4D97-AF65-F5344CB8AC3E}">
        <p14:creationId xmlns:p14="http://schemas.microsoft.com/office/powerpoint/2010/main" val="113512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F12B6-71B7-5345-89D1-AD83B4445944}"/>
              </a:ext>
            </a:extLst>
          </p:cNvPr>
          <p:cNvSpPr>
            <a:spLocks noGrp="1"/>
          </p:cNvSpPr>
          <p:nvPr>
            <p:ph type="title"/>
          </p:nvPr>
        </p:nvSpPr>
        <p:spPr/>
        <p:txBody>
          <a:bodyPr/>
          <a:lstStyle/>
          <a:p>
            <a:r>
              <a:rPr lang="en-US" altLang="zh-CN" dirty="0"/>
              <a:t>INTRODUCTION</a:t>
            </a:r>
            <a:endParaRPr lang="en-US" dirty="0"/>
          </a:p>
        </p:txBody>
      </p:sp>
      <p:sp>
        <p:nvSpPr>
          <p:cNvPr id="3" name="Text Placeholder 2">
            <a:extLst>
              <a:ext uri="{FF2B5EF4-FFF2-40B4-BE49-F238E27FC236}">
                <a16:creationId xmlns:a16="http://schemas.microsoft.com/office/drawing/2014/main" id="{AB98AA05-E33E-7D42-A5F3-9FB8CC11687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894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71793A-DDE6-D948-B2E1-0D21A0187C6C}"/>
              </a:ext>
            </a:extLst>
          </p:cNvPr>
          <p:cNvSpPr>
            <a:spLocks noGrp="1"/>
          </p:cNvSpPr>
          <p:nvPr>
            <p:ph type="body" idx="1"/>
          </p:nvPr>
        </p:nvSpPr>
        <p:spPr/>
        <p:txBody>
          <a:bodyPr/>
          <a:lstStyle/>
          <a:p>
            <a:endParaRPr lang="en-MY"/>
          </a:p>
        </p:txBody>
      </p:sp>
      <p:pic>
        <p:nvPicPr>
          <p:cNvPr id="6" name="Picture 5">
            <a:extLst>
              <a:ext uri="{FF2B5EF4-FFF2-40B4-BE49-F238E27FC236}">
                <a16:creationId xmlns:a16="http://schemas.microsoft.com/office/drawing/2014/main" id="{A5A0EE50-DAA4-146A-96F8-DFBCDF209BDB}"/>
              </a:ext>
            </a:extLst>
          </p:cNvPr>
          <p:cNvPicPr>
            <a:picLocks noChangeAspect="1"/>
          </p:cNvPicPr>
          <p:nvPr/>
        </p:nvPicPr>
        <p:blipFill>
          <a:blip r:embed="rId3"/>
          <a:stretch>
            <a:fillRect/>
          </a:stretch>
        </p:blipFill>
        <p:spPr>
          <a:xfrm>
            <a:off x="942192" y="0"/>
            <a:ext cx="10307615" cy="6858000"/>
          </a:xfrm>
          <a:prstGeom prst="rect">
            <a:avLst/>
          </a:prstGeom>
        </p:spPr>
      </p:pic>
    </p:spTree>
    <p:extLst>
      <p:ext uri="{BB962C8B-B14F-4D97-AF65-F5344CB8AC3E}">
        <p14:creationId xmlns:p14="http://schemas.microsoft.com/office/powerpoint/2010/main" val="73762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EDB4-6D13-AB41-8691-FEFB6A0FE246}"/>
              </a:ext>
            </a:extLst>
          </p:cNvPr>
          <p:cNvSpPr>
            <a:spLocks noGrp="1"/>
          </p:cNvSpPr>
          <p:nvPr>
            <p:ph type="title"/>
          </p:nvPr>
        </p:nvSpPr>
        <p:spPr/>
        <p:txBody>
          <a:bodyPr/>
          <a:lstStyle/>
          <a:p>
            <a:r>
              <a:rPr lang="en-US" altLang="zh-CN" dirty="0"/>
              <a:t>INTRODUCTION</a:t>
            </a:r>
            <a:endParaRPr lang="en-US" dirty="0"/>
          </a:p>
        </p:txBody>
      </p:sp>
      <p:sp>
        <p:nvSpPr>
          <p:cNvPr id="3" name="Content Placeholder 2">
            <a:extLst>
              <a:ext uri="{FF2B5EF4-FFF2-40B4-BE49-F238E27FC236}">
                <a16:creationId xmlns:a16="http://schemas.microsoft.com/office/drawing/2014/main" id="{D1E8C088-BBBE-F442-BC4E-52E67957D887}"/>
              </a:ext>
            </a:extLst>
          </p:cNvPr>
          <p:cNvSpPr>
            <a:spLocks noGrp="1"/>
          </p:cNvSpPr>
          <p:nvPr>
            <p:ph idx="1"/>
          </p:nvPr>
        </p:nvSpPr>
        <p:spPr/>
        <p:txBody>
          <a:bodyPr/>
          <a:lstStyle/>
          <a:p>
            <a:r>
              <a:rPr lang="en-US" altLang="zh-CN" dirty="0"/>
              <a:t>Traditional</a:t>
            </a:r>
            <a:r>
              <a:rPr lang="zh-CN" altLang="en-US" dirty="0"/>
              <a:t> </a:t>
            </a:r>
            <a:r>
              <a:rPr lang="en-US" altLang="zh-CN" dirty="0"/>
              <a:t>elevator</a:t>
            </a:r>
            <a:r>
              <a:rPr lang="zh-CN" altLang="en-US" dirty="0"/>
              <a:t> </a:t>
            </a:r>
            <a:r>
              <a:rPr lang="en-US" altLang="zh-CN" dirty="0"/>
              <a:t>control</a:t>
            </a:r>
            <a:r>
              <a:rPr lang="zh-CN" altLang="en-US" dirty="0"/>
              <a:t> </a:t>
            </a:r>
            <a:r>
              <a:rPr lang="en-US" altLang="zh-CN" dirty="0"/>
              <a:t>strategy:</a:t>
            </a:r>
            <a:r>
              <a:rPr lang="zh-CN" altLang="en-US" dirty="0"/>
              <a:t> </a:t>
            </a:r>
            <a:r>
              <a:rPr lang="en-US" altLang="zh-CN" dirty="0"/>
              <a:t>Send</a:t>
            </a:r>
            <a:r>
              <a:rPr lang="zh-CN" altLang="en-US" dirty="0"/>
              <a:t> </a:t>
            </a:r>
            <a:r>
              <a:rPr lang="en-US" altLang="zh-CN" dirty="0"/>
              <a:t>the</a:t>
            </a:r>
            <a:r>
              <a:rPr lang="zh-CN" altLang="en-US" dirty="0"/>
              <a:t> </a:t>
            </a:r>
            <a:r>
              <a:rPr lang="en-US" altLang="zh-CN" dirty="0"/>
              <a:t>nearest</a:t>
            </a:r>
            <a:r>
              <a:rPr lang="zh-CN" altLang="en-US" dirty="0"/>
              <a:t> </a:t>
            </a:r>
            <a:r>
              <a:rPr lang="en-US" altLang="zh-CN" dirty="0"/>
              <a:t>and</a:t>
            </a:r>
            <a:r>
              <a:rPr lang="zh-CN" altLang="en-US" dirty="0"/>
              <a:t> </a:t>
            </a:r>
            <a:r>
              <a:rPr lang="en-US" altLang="zh-CN" dirty="0"/>
              <a:t>heading</a:t>
            </a:r>
            <a:r>
              <a:rPr lang="zh-CN" altLang="en-US" dirty="0"/>
              <a:t> </a:t>
            </a:r>
            <a:r>
              <a:rPr lang="en-US" altLang="zh-CN" dirty="0"/>
              <a:t>elevator</a:t>
            </a:r>
            <a:r>
              <a:rPr lang="zh-CN" altLang="en-US" dirty="0"/>
              <a:t> </a:t>
            </a:r>
            <a:r>
              <a:rPr lang="en-US" altLang="zh-CN" dirty="0"/>
              <a:t>to</a:t>
            </a:r>
            <a:r>
              <a:rPr lang="zh-CN" altLang="en-US" dirty="0"/>
              <a:t> </a:t>
            </a:r>
            <a:r>
              <a:rPr lang="en-MY" altLang="zh-CN" dirty="0"/>
              <a:t>the </a:t>
            </a:r>
            <a:r>
              <a:rPr lang="en-US" altLang="zh-CN" dirty="0"/>
              <a:t>calling</a:t>
            </a:r>
            <a:r>
              <a:rPr lang="zh-CN" altLang="en-US" dirty="0"/>
              <a:t> </a:t>
            </a:r>
            <a:r>
              <a:rPr lang="en-US" altLang="zh-CN" dirty="0"/>
              <a:t>floor,</a:t>
            </a:r>
            <a:r>
              <a:rPr lang="zh-CN" altLang="en-US" dirty="0"/>
              <a:t> </a:t>
            </a:r>
            <a:r>
              <a:rPr lang="en-US" altLang="zh-CN" dirty="0"/>
              <a:t>and</a:t>
            </a:r>
            <a:r>
              <a:rPr lang="zh-CN" altLang="en-US" dirty="0"/>
              <a:t> </a:t>
            </a:r>
            <a:r>
              <a:rPr lang="en-US" altLang="zh-CN" b="1" dirty="0">
                <a:solidFill>
                  <a:schemeClr val="accent2">
                    <a:lumMod val="75000"/>
                  </a:schemeClr>
                </a:solidFill>
              </a:rPr>
              <a:t>stay</a:t>
            </a:r>
            <a:r>
              <a:rPr lang="zh-CN" altLang="en-US" b="1" dirty="0">
                <a:solidFill>
                  <a:schemeClr val="accent2">
                    <a:lumMod val="75000"/>
                  </a:schemeClr>
                </a:solidFill>
              </a:rPr>
              <a:t> </a:t>
            </a:r>
            <a:r>
              <a:rPr lang="en-US" altLang="zh-CN" b="1" dirty="0">
                <a:solidFill>
                  <a:schemeClr val="accent2">
                    <a:lumMod val="75000"/>
                  </a:schemeClr>
                </a:solidFill>
              </a:rPr>
              <a:t>at</a:t>
            </a:r>
            <a:r>
              <a:rPr lang="zh-CN" altLang="en-US" b="1" dirty="0">
                <a:solidFill>
                  <a:schemeClr val="accent2">
                    <a:lumMod val="75000"/>
                  </a:schemeClr>
                </a:solidFill>
              </a:rPr>
              <a:t> </a:t>
            </a:r>
            <a:r>
              <a:rPr lang="en-US" altLang="zh-CN" b="1" dirty="0">
                <a:solidFill>
                  <a:schemeClr val="accent2">
                    <a:lumMod val="75000"/>
                  </a:schemeClr>
                </a:solidFill>
              </a:rPr>
              <a:t>where</a:t>
            </a:r>
            <a:r>
              <a:rPr lang="zh-CN" altLang="en-US" b="1" dirty="0">
                <a:solidFill>
                  <a:schemeClr val="accent2">
                    <a:lumMod val="75000"/>
                  </a:schemeClr>
                </a:solidFill>
              </a:rPr>
              <a:t> </a:t>
            </a:r>
            <a:r>
              <a:rPr lang="en-US" altLang="zh-CN" b="1" dirty="0">
                <a:solidFill>
                  <a:schemeClr val="accent2">
                    <a:lumMod val="75000"/>
                  </a:schemeClr>
                </a:solidFill>
              </a:rPr>
              <a:t>they</a:t>
            </a:r>
            <a:r>
              <a:rPr lang="zh-CN" altLang="en-US" b="1" dirty="0">
                <a:solidFill>
                  <a:schemeClr val="accent2">
                    <a:lumMod val="75000"/>
                  </a:schemeClr>
                </a:solidFill>
              </a:rPr>
              <a:t> </a:t>
            </a:r>
            <a:r>
              <a:rPr lang="en-US" altLang="zh-CN" b="1" dirty="0">
                <a:solidFill>
                  <a:schemeClr val="accent2">
                    <a:lumMod val="75000"/>
                  </a:schemeClr>
                </a:solidFill>
              </a:rPr>
              <a:t>lastly</a:t>
            </a:r>
            <a:r>
              <a:rPr lang="zh-CN" altLang="en-US" b="1" dirty="0">
                <a:solidFill>
                  <a:schemeClr val="accent2">
                    <a:lumMod val="75000"/>
                  </a:schemeClr>
                </a:solidFill>
              </a:rPr>
              <a:t> </a:t>
            </a:r>
            <a:r>
              <a:rPr lang="en-US" altLang="zh-CN" b="1" dirty="0">
                <a:solidFill>
                  <a:schemeClr val="accent2">
                    <a:lumMod val="75000"/>
                  </a:schemeClr>
                </a:solidFill>
              </a:rPr>
              <a:t>unload</a:t>
            </a:r>
            <a:r>
              <a:rPr lang="zh-CN" altLang="en-US" b="1" dirty="0">
                <a:solidFill>
                  <a:schemeClr val="accent2">
                    <a:lumMod val="75000"/>
                  </a:schemeClr>
                </a:solidFill>
              </a:rPr>
              <a:t> </a:t>
            </a:r>
            <a:r>
              <a:rPr lang="en-US" altLang="zh-CN" dirty="0"/>
              <a:t>passengers (closet car algorithm, CCA)</a:t>
            </a:r>
          </a:p>
          <a:p>
            <a:endParaRPr lang="en-US" altLang="zh-CN" dirty="0"/>
          </a:p>
          <a:p>
            <a:r>
              <a:rPr lang="en-US" altLang="zh-CN" dirty="0"/>
              <a:t>This</a:t>
            </a:r>
            <a:r>
              <a:rPr lang="zh-CN" altLang="en-US" dirty="0"/>
              <a:t> </a:t>
            </a:r>
            <a:r>
              <a:rPr lang="en-US" altLang="zh-CN" dirty="0"/>
              <a:t>makes</a:t>
            </a:r>
            <a:r>
              <a:rPr lang="zh-CN" altLang="en-US" dirty="0"/>
              <a:t> </a:t>
            </a:r>
            <a:r>
              <a:rPr lang="en-US" altLang="zh-CN" dirty="0"/>
              <a:t>idle</a:t>
            </a:r>
            <a:r>
              <a:rPr lang="zh-CN" altLang="en-US" dirty="0"/>
              <a:t> </a:t>
            </a:r>
            <a:r>
              <a:rPr lang="en-US" altLang="zh-CN" dirty="0"/>
              <a:t>elevators</a:t>
            </a:r>
            <a:r>
              <a:rPr lang="zh-CN" altLang="en-US" dirty="0"/>
              <a:t> </a:t>
            </a:r>
            <a:r>
              <a:rPr lang="en-US" altLang="zh-CN" dirty="0"/>
              <a:t>often</a:t>
            </a:r>
            <a:r>
              <a:rPr lang="zh-CN" altLang="en-US" dirty="0"/>
              <a:t> </a:t>
            </a:r>
            <a:r>
              <a:rPr lang="en-US" altLang="zh-CN" dirty="0"/>
              <a:t>stay</a:t>
            </a:r>
            <a:r>
              <a:rPr lang="zh-CN" altLang="en-US" dirty="0"/>
              <a:t> </a:t>
            </a:r>
            <a:r>
              <a:rPr lang="en-US" altLang="zh-CN" dirty="0"/>
              <a:t>at</a:t>
            </a:r>
            <a:r>
              <a:rPr lang="zh-CN" altLang="en-US" dirty="0"/>
              <a:t> </a:t>
            </a:r>
            <a:r>
              <a:rPr lang="en-MY" altLang="zh-CN" dirty="0"/>
              <a:t>low-demand</a:t>
            </a:r>
            <a:r>
              <a:rPr lang="zh-CN" altLang="en-US" dirty="0"/>
              <a:t> </a:t>
            </a:r>
            <a:r>
              <a:rPr lang="en-US" altLang="zh-CN" dirty="0"/>
              <a:t>frequency</a:t>
            </a:r>
            <a:r>
              <a:rPr lang="zh-CN" altLang="en-US" dirty="0"/>
              <a:t> </a:t>
            </a:r>
            <a:r>
              <a:rPr lang="en-US" altLang="zh-CN" dirty="0"/>
              <a:t>floors</a:t>
            </a:r>
          </a:p>
          <a:p>
            <a:endParaRPr lang="en-US" altLang="zh-CN" dirty="0"/>
          </a:p>
          <a:p>
            <a:r>
              <a:rPr lang="en-US" altLang="zh-CN" dirty="0"/>
              <a:t>When</a:t>
            </a:r>
            <a:r>
              <a:rPr lang="zh-CN" altLang="en-US" dirty="0"/>
              <a:t> </a:t>
            </a:r>
            <a:r>
              <a:rPr lang="en-MY" altLang="zh-CN" dirty="0"/>
              <a:t>high-demand</a:t>
            </a:r>
            <a:r>
              <a:rPr lang="zh-CN" altLang="en-US" dirty="0"/>
              <a:t> </a:t>
            </a:r>
            <a:r>
              <a:rPr lang="en-US" altLang="zh-CN" dirty="0"/>
              <a:t>frequency</a:t>
            </a:r>
            <a:r>
              <a:rPr lang="zh-CN" altLang="en-US" dirty="0"/>
              <a:t> </a:t>
            </a:r>
            <a:r>
              <a:rPr lang="en-US" altLang="zh-CN" dirty="0"/>
              <a:t>floors</a:t>
            </a:r>
            <a:r>
              <a:rPr lang="zh-CN" altLang="en-US" dirty="0"/>
              <a:t> </a:t>
            </a:r>
            <a:r>
              <a:rPr lang="en-MY" altLang="zh-CN" dirty="0"/>
              <a:t>are </a:t>
            </a:r>
            <a:r>
              <a:rPr lang="en-US" altLang="zh-CN" dirty="0"/>
              <a:t>making</a:t>
            </a:r>
            <a:r>
              <a:rPr lang="zh-CN" altLang="en-US" dirty="0"/>
              <a:t> </a:t>
            </a:r>
            <a:r>
              <a:rPr lang="en-US" altLang="zh-CN" dirty="0"/>
              <a:t>calls,</a:t>
            </a:r>
            <a:r>
              <a:rPr lang="zh-CN" altLang="en-US" dirty="0"/>
              <a:t> </a:t>
            </a:r>
            <a:r>
              <a:rPr lang="en-MY" altLang="zh-CN" dirty="0"/>
              <a:t>the </a:t>
            </a:r>
            <a:r>
              <a:rPr lang="en-US" altLang="zh-CN" dirty="0"/>
              <a:t>elevator</a:t>
            </a:r>
            <a:r>
              <a:rPr lang="zh-CN" altLang="en-US" dirty="0"/>
              <a:t> </a:t>
            </a:r>
            <a:r>
              <a:rPr lang="en-US" altLang="zh-CN" dirty="0"/>
              <a:t>needs</a:t>
            </a:r>
            <a:r>
              <a:rPr lang="zh-CN" altLang="en-US" dirty="0"/>
              <a:t> </a:t>
            </a:r>
            <a:r>
              <a:rPr lang="en-US" altLang="zh-CN" dirty="0"/>
              <a:t>to</a:t>
            </a:r>
            <a:r>
              <a:rPr lang="zh-CN" altLang="en-US" dirty="0"/>
              <a:t> </a:t>
            </a:r>
            <a:r>
              <a:rPr lang="en-US" altLang="zh-CN" dirty="0"/>
              <a:t>take</a:t>
            </a:r>
            <a:r>
              <a:rPr lang="zh-CN" altLang="en-US" dirty="0"/>
              <a:t> </a:t>
            </a:r>
            <a:r>
              <a:rPr lang="en-US" altLang="zh-CN" dirty="0"/>
              <a:t>time</a:t>
            </a:r>
            <a:r>
              <a:rPr lang="zh-CN" altLang="en-US" dirty="0"/>
              <a:t> </a:t>
            </a:r>
            <a:r>
              <a:rPr lang="en-US" altLang="zh-CN" dirty="0"/>
              <a:t>to</a:t>
            </a:r>
            <a:r>
              <a:rPr lang="zh-CN" altLang="en-US" dirty="0"/>
              <a:t> </a:t>
            </a:r>
            <a:r>
              <a:rPr lang="en-US" altLang="zh-CN" dirty="0"/>
              <a:t>arrive</a:t>
            </a:r>
            <a:r>
              <a:rPr lang="zh-CN" altLang="en-US" dirty="0"/>
              <a:t> </a:t>
            </a:r>
            <a:r>
              <a:rPr lang="en-MY" altLang="zh-CN" dirty="0"/>
              <a:t>at </a:t>
            </a:r>
            <a:r>
              <a:rPr lang="en-US" altLang="zh-CN" dirty="0"/>
              <a:t>calling</a:t>
            </a:r>
            <a:r>
              <a:rPr lang="zh-CN" altLang="en-US" dirty="0"/>
              <a:t> </a:t>
            </a:r>
            <a:r>
              <a:rPr lang="en-US" altLang="zh-CN" dirty="0"/>
              <a:t>floors, increasing waiting time</a:t>
            </a:r>
          </a:p>
          <a:p>
            <a:endParaRPr lang="en-US" altLang="zh-CN" dirty="0"/>
          </a:p>
          <a:p>
            <a:r>
              <a:rPr lang="en-US" altLang="zh-CN" dirty="0"/>
              <a:t>When buildings become taller, this situation becomes worse </a:t>
            </a:r>
          </a:p>
          <a:p>
            <a:endParaRPr lang="en-US" dirty="0"/>
          </a:p>
        </p:txBody>
      </p:sp>
    </p:spTree>
    <p:extLst>
      <p:ext uri="{BB962C8B-B14F-4D97-AF65-F5344CB8AC3E}">
        <p14:creationId xmlns:p14="http://schemas.microsoft.com/office/powerpoint/2010/main" val="397342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B7FCA-AEAE-8183-3E2C-2DE0221B0C2E}"/>
              </a:ext>
            </a:extLst>
          </p:cNvPr>
          <p:cNvSpPr>
            <a:spLocks noGrp="1"/>
          </p:cNvSpPr>
          <p:nvPr>
            <p:ph type="title"/>
          </p:nvPr>
        </p:nvSpPr>
        <p:spPr/>
        <p:txBody>
          <a:bodyPr/>
          <a:lstStyle/>
          <a:p>
            <a:r>
              <a:rPr lang="en-MY" dirty="0"/>
              <a:t>Solution: </a:t>
            </a:r>
            <a:br>
              <a:rPr lang="en-MY" dirty="0"/>
            </a:br>
            <a:r>
              <a:rPr lang="en-MY" sz="3200" dirty="0">
                <a:solidFill>
                  <a:schemeClr val="accent1">
                    <a:lumMod val="50000"/>
                  </a:schemeClr>
                </a:solidFill>
              </a:rPr>
              <a:t>Elevator’s Predictive Standby Dispatch </a:t>
            </a:r>
          </a:p>
        </p:txBody>
      </p:sp>
      <p:sp>
        <p:nvSpPr>
          <p:cNvPr id="5" name="Content Placeholder 4">
            <a:extLst>
              <a:ext uri="{FF2B5EF4-FFF2-40B4-BE49-F238E27FC236}">
                <a16:creationId xmlns:a16="http://schemas.microsoft.com/office/drawing/2014/main" id="{023083D4-91D1-5B58-0B19-3DF5161527F9}"/>
              </a:ext>
            </a:extLst>
          </p:cNvPr>
          <p:cNvSpPr>
            <a:spLocks noGrp="1"/>
          </p:cNvSpPr>
          <p:nvPr>
            <p:ph idx="1"/>
          </p:nvPr>
        </p:nvSpPr>
        <p:spPr/>
        <p:txBody>
          <a:bodyPr/>
          <a:lstStyle/>
          <a:p>
            <a:r>
              <a:rPr lang="en-MY" dirty="0"/>
              <a:t>A system that allows the elevator to predict future calls</a:t>
            </a:r>
          </a:p>
          <a:p>
            <a:endParaRPr lang="en-MY" dirty="0"/>
          </a:p>
          <a:p>
            <a:r>
              <a:rPr lang="en-MY" dirty="0"/>
              <a:t>Reposition the idle elevator according to the predicted calls</a:t>
            </a:r>
          </a:p>
          <a:p>
            <a:endParaRPr lang="en-MY" dirty="0"/>
          </a:p>
          <a:p>
            <a:r>
              <a:rPr lang="en-MY" dirty="0"/>
              <a:t>Therefore, reducing users’ waiting time</a:t>
            </a:r>
          </a:p>
        </p:txBody>
      </p:sp>
    </p:spTree>
    <p:extLst>
      <p:ext uri="{BB962C8B-B14F-4D97-AF65-F5344CB8AC3E}">
        <p14:creationId xmlns:p14="http://schemas.microsoft.com/office/powerpoint/2010/main" val="143905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D061-DE64-17C8-937D-40BF538EC99B}"/>
              </a:ext>
            </a:extLst>
          </p:cNvPr>
          <p:cNvSpPr>
            <a:spLocks noGrp="1"/>
          </p:cNvSpPr>
          <p:nvPr>
            <p:ph type="title"/>
          </p:nvPr>
        </p:nvSpPr>
        <p:spPr>
          <a:xfrm>
            <a:off x="677335" y="2700867"/>
            <a:ext cx="7867575" cy="1826581"/>
          </a:xfrm>
        </p:spPr>
        <p:txBody>
          <a:bodyPr>
            <a:normAutofit/>
          </a:bodyPr>
          <a:lstStyle/>
          <a:p>
            <a:r>
              <a:rPr lang="en-GB" dirty="0"/>
              <a:t>Problem Statement, Research Questions &amp; Objectives</a:t>
            </a:r>
            <a:endParaRPr lang="en-MY" dirty="0"/>
          </a:p>
        </p:txBody>
      </p:sp>
      <p:sp>
        <p:nvSpPr>
          <p:cNvPr id="3" name="Text Placeholder 2">
            <a:extLst>
              <a:ext uri="{FF2B5EF4-FFF2-40B4-BE49-F238E27FC236}">
                <a16:creationId xmlns:a16="http://schemas.microsoft.com/office/drawing/2014/main" id="{D1A5A734-FBF2-2BBF-C68E-A91E9B5F0373}"/>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794036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ACDC-2B1C-AA1B-2584-204A8F539F7E}"/>
              </a:ext>
            </a:extLst>
          </p:cNvPr>
          <p:cNvSpPr>
            <a:spLocks noGrp="1"/>
          </p:cNvSpPr>
          <p:nvPr>
            <p:ph type="title"/>
          </p:nvPr>
        </p:nvSpPr>
        <p:spPr/>
        <p:txBody>
          <a:bodyPr/>
          <a:lstStyle/>
          <a:p>
            <a:r>
              <a:rPr lang="en-MY" dirty="0"/>
              <a:t>PROBLEM STATEMENT</a:t>
            </a:r>
          </a:p>
        </p:txBody>
      </p:sp>
      <p:sp>
        <p:nvSpPr>
          <p:cNvPr id="3" name="Content Placeholder 2">
            <a:extLst>
              <a:ext uri="{FF2B5EF4-FFF2-40B4-BE49-F238E27FC236}">
                <a16:creationId xmlns:a16="http://schemas.microsoft.com/office/drawing/2014/main" id="{D2C79CE1-38D2-6228-186F-F57613D29A25}"/>
              </a:ext>
            </a:extLst>
          </p:cNvPr>
          <p:cNvSpPr>
            <a:spLocks noGrp="1"/>
          </p:cNvSpPr>
          <p:nvPr>
            <p:ph idx="1"/>
          </p:nvPr>
        </p:nvSpPr>
        <p:spPr>
          <a:xfrm>
            <a:off x="677334" y="1592317"/>
            <a:ext cx="8596668" cy="4449045"/>
          </a:xfrm>
        </p:spPr>
        <p:txBody>
          <a:bodyPr/>
          <a:lstStyle/>
          <a:p>
            <a:r>
              <a:rPr lang="en-MY" b="1" dirty="0">
                <a:solidFill>
                  <a:schemeClr val="accent1">
                    <a:lumMod val="75000"/>
                  </a:schemeClr>
                </a:solidFill>
              </a:rPr>
              <a:t>Waiting Time Gap: </a:t>
            </a:r>
            <a:r>
              <a:rPr lang="en-MY" dirty="0"/>
              <a:t>A reactive dispatch control system only sends the elevator once a call is received, even though there are several optimising strategies, but the time the elevator takes to reach the calling floors cannot be eliminated.</a:t>
            </a:r>
          </a:p>
          <a:p>
            <a:endParaRPr lang="en-MY" dirty="0"/>
          </a:p>
          <a:p>
            <a:r>
              <a:rPr lang="en-MY" b="1" dirty="0">
                <a:solidFill>
                  <a:schemeClr val="accent2"/>
                </a:solidFill>
              </a:rPr>
              <a:t>System’s Effectiveness in different scenarios: </a:t>
            </a:r>
            <a:r>
              <a:rPr lang="en-MY" dirty="0"/>
              <a:t>The developed predictive system might not improve much in demand-saturated scenarios, as it only repositions the elevator when it is idle.</a:t>
            </a:r>
          </a:p>
          <a:p>
            <a:endParaRPr lang="en-MY" b="1" dirty="0">
              <a:solidFill>
                <a:schemeClr val="accent1">
                  <a:lumMod val="75000"/>
                </a:schemeClr>
              </a:solidFill>
            </a:endParaRPr>
          </a:p>
          <a:p>
            <a:r>
              <a:rPr lang="en-MY" b="1" dirty="0">
                <a:solidFill>
                  <a:schemeClr val="accent1">
                    <a:lumMod val="75000"/>
                  </a:schemeClr>
                </a:solidFill>
              </a:rPr>
              <a:t>Cost-Benefit balance: </a:t>
            </a:r>
            <a:r>
              <a:rPr lang="en-MY" dirty="0"/>
              <a:t>It can be expected that waiting time can be reduced significantly if we send the elevator to stand by at every possible floor, but </a:t>
            </a:r>
            <a:r>
              <a:rPr lang="en-US" altLang="zh-CN" dirty="0"/>
              <a:t>the cost also increases.</a:t>
            </a:r>
            <a:endParaRPr lang="en-MY" dirty="0"/>
          </a:p>
          <a:p>
            <a:endParaRPr lang="en-MY" dirty="0"/>
          </a:p>
        </p:txBody>
      </p:sp>
    </p:spTree>
    <p:extLst>
      <p:ext uri="{BB962C8B-B14F-4D97-AF65-F5344CB8AC3E}">
        <p14:creationId xmlns:p14="http://schemas.microsoft.com/office/powerpoint/2010/main" val="3464821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8887-BE3A-8B6F-E9B4-848CBA571143}"/>
              </a:ext>
            </a:extLst>
          </p:cNvPr>
          <p:cNvSpPr>
            <a:spLocks noGrp="1"/>
          </p:cNvSpPr>
          <p:nvPr>
            <p:ph type="title"/>
          </p:nvPr>
        </p:nvSpPr>
        <p:spPr/>
        <p:txBody>
          <a:bodyPr/>
          <a:lstStyle/>
          <a:p>
            <a:r>
              <a:rPr lang="en-MY" dirty="0"/>
              <a:t>RESEARCH QUESTION</a:t>
            </a:r>
          </a:p>
        </p:txBody>
      </p:sp>
      <p:sp>
        <p:nvSpPr>
          <p:cNvPr id="3" name="Content Placeholder 2">
            <a:extLst>
              <a:ext uri="{FF2B5EF4-FFF2-40B4-BE49-F238E27FC236}">
                <a16:creationId xmlns:a16="http://schemas.microsoft.com/office/drawing/2014/main" id="{382048B2-2ACB-0AD2-51B3-3BE1239A1EE4}"/>
              </a:ext>
            </a:extLst>
          </p:cNvPr>
          <p:cNvSpPr>
            <a:spLocks noGrp="1"/>
          </p:cNvSpPr>
          <p:nvPr>
            <p:ph idx="1"/>
          </p:nvPr>
        </p:nvSpPr>
        <p:spPr/>
        <p:txBody>
          <a:bodyPr/>
          <a:lstStyle/>
          <a:p>
            <a:pPr lvl="0"/>
            <a:r>
              <a:rPr lang="en-US" dirty="0"/>
              <a:t>Can machine learning algorithms reliably predict future hall calls (floor and direction) before they occur?</a:t>
            </a:r>
          </a:p>
          <a:p>
            <a:pPr lvl="0"/>
            <a:endParaRPr lang="en-MY" dirty="0"/>
          </a:p>
          <a:p>
            <a:pPr lvl="0"/>
            <a:r>
              <a:rPr lang="en-US" dirty="0"/>
              <a:t>Does using prediction to reposition idle elevators (standby dispatch) reduce waiting time compared to baseline </a:t>
            </a:r>
            <a:r>
              <a:rPr lang="en-US" altLang="zh-CN" dirty="0"/>
              <a:t>in different scenarios (high and low demand)?</a:t>
            </a:r>
          </a:p>
          <a:p>
            <a:pPr lvl="0"/>
            <a:endParaRPr lang="en-MY" dirty="0"/>
          </a:p>
          <a:p>
            <a:pPr lvl="0"/>
            <a:r>
              <a:rPr lang="en-US" dirty="0"/>
              <a:t>How should the system trade off between decreasing waiting time and </a:t>
            </a:r>
            <a:r>
              <a:rPr lang="en-US" dirty="0" err="1"/>
              <a:t>minimising</a:t>
            </a:r>
            <a:r>
              <a:rPr lang="en-US" dirty="0"/>
              <a:t> repositioning movement/energy cost?</a:t>
            </a:r>
            <a:endParaRPr lang="en-MY" dirty="0"/>
          </a:p>
          <a:p>
            <a:pPr marL="0" indent="0">
              <a:buNone/>
            </a:pPr>
            <a:endParaRPr lang="en-MY" dirty="0"/>
          </a:p>
        </p:txBody>
      </p:sp>
    </p:spTree>
    <p:extLst>
      <p:ext uri="{BB962C8B-B14F-4D97-AF65-F5344CB8AC3E}">
        <p14:creationId xmlns:p14="http://schemas.microsoft.com/office/powerpoint/2010/main" val="35435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8F4F-199A-2B6C-448E-29F652B1FF7A}"/>
              </a:ext>
            </a:extLst>
          </p:cNvPr>
          <p:cNvSpPr>
            <a:spLocks noGrp="1"/>
          </p:cNvSpPr>
          <p:nvPr>
            <p:ph type="title"/>
          </p:nvPr>
        </p:nvSpPr>
        <p:spPr/>
        <p:txBody>
          <a:bodyPr/>
          <a:lstStyle/>
          <a:p>
            <a:r>
              <a:rPr lang="en-US" b="1" dirty="0"/>
              <a:t>RESEARCH OBJECTIVE</a:t>
            </a:r>
            <a:br>
              <a:rPr lang="en-MY" dirty="0"/>
            </a:br>
            <a:endParaRPr lang="en-MY" dirty="0"/>
          </a:p>
        </p:txBody>
      </p:sp>
      <p:sp>
        <p:nvSpPr>
          <p:cNvPr id="3" name="Content Placeholder 2">
            <a:extLst>
              <a:ext uri="{FF2B5EF4-FFF2-40B4-BE49-F238E27FC236}">
                <a16:creationId xmlns:a16="http://schemas.microsoft.com/office/drawing/2014/main" id="{FA2AD8AC-60C1-6797-94F4-67A7C7ED4727}"/>
              </a:ext>
            </a:extLst>
          </p:cNvPr>
          <p:cNvSpPr>
            <a:spLocks noGrp="1"/>
          </p:cNvSpPr>
          <p:nvPr>
            <p:ph idx="1"/>
          </p:nvPr>
        </p:nvSpPr>
        <p:spPr/>
        <p:txBody>
          <a:bodyPr/>
          <a:lstStyle/>
          <a:p>
            <a:pPr lvl="0"/>
            <a:r>
              <a:rPr lang="en-US" dirty="0"/>
              <a:t>How should the system trade off between decreasing waiting time and </a:t>
            </a:r>
            <a:r>
              <a:rPr lang="en-US" dirty="0" err="1"/>
              <a:t>minimising</a:t>
            </a:r>
            <a:r>
              <a:rPr lang="en-US" dirty="0"/>
              <a:t> repositioning movement/energy cost?</a:t>
            </a:r>
            <a:endParaRPr lang="en-MY" dirty="0"/>
          </a:p>
          <a:p>
            <a:pPr lvl="0"/>
            <a:endParaRPr lang="en-MY" dirty="0"/>
          </a:p>
          <a:p>
            <a:pPr lvl="0"/>
            <a:r>
              <a:rPr lang="en-US" dirty="0"/>
              <a:t>Implement and simulate the predictive standby dispatching strategy, and compare its average waiting time (AWT) versus a baseline reactive dispatch strategy in different scenarios (high and low demand).</a:t>
            </a:r>
          </a:p>
          <a:p>
            <a:pPr lvl="0"/>
            <a:endParaRPr lang="en-MY" dirty="0"/>
          </a:p>
          <a:p>
            <a:pPr lvl="0"/>
            <a:r>
              <a:rPr lang="en-US" dirty="0"/>
              <a:t>Design a framework or strategy to balance between AWT reduction and movement cost.</a:t>
            </a:r>
            <a:endParaRPr lang="en-MY" dirty="0"/>
          </a:p>
          <a:p>
            <a:pPr marL="0" indent="0">
              <a:buNone/>
            </a:pPr>
            <a:endParaRPr lang="en-MY" dirty="0"/>
          </a:p>
        </p:txBody>
      </p:sp>
    </p:spTree>
    <p:extLst>
      <p:ext uri="{BB962C8B-B14F-4D97-AF65-F5344CB8AC3E}">
        <p14:creationId xmlns:p14="http://schemas.microsoft.com/office/powerpoint/2010/main" val="232701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C2BA-392C-D4F6-4920-95C704C4441E}"/>
              </a:ext>
            </a:extLst>
          </p:cNvPr>
          <p:cNvSpPr>
            <a:spLocks noGrp="1"/>
          </p:cNvSpPr>
          <p:nvPr>
            <p:ph type="title"/>
          </p:nvPr>
        </p:nvSpPr>
        <p:spPr/>
        <p:txBody>
          <a:bodyPr/>
          <a:lstStyle/>
          <a:p>
            <a:r>
              <a:rPr lang="en-MY" dirty="0"/>
              <a:t>LITERTURE REVIEW</a:t>
            </a:r>
          </a:p>
        </p:txBody>
      </p:sp>
      <p:sp>
        <p:nvSpPr>
          <p:cNvPr id="3" name="Text Placeholder 2">
            <a:extLst>
              <a:ext uri="{FF2B5EF4-FFF2-40B4-BE49-F238E27FC236}">
                <a16:creationId xmlns:a16="http://schemas.microsoft.com/office/drawing/2014/main" id="{C117CCAC-B7CE-A24E-0A1F-C7631E521B6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90493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0E244C6-FEF9-0F47-3F27-11FFAE1F818A}"/>
              </a:ext>
            </a:extLst>
          </p:cNvPr>
          <p:cNvSpPr>
            <a:spLocks noGrp="1"/>
          </p:cNvSpPr>
          <p:nvPr>
            <p:ph sz="half" idx="1"/>
          </p:nvPr>
        </p:nvSpPr>
        <p:spPr>
          <a:xfrm>
            <a:off x="677334" y="651510"/>
            <a:ext cx="4184035" cy="5389851"/>
          </a:xfrm>
        </p:spPr>
        <p:txBody>
          <a:bodyPr>
            <a:normAutofit lnSpcReduction="10000"/>
          </a:bodyPr>
          <a:lstStyle/>
          <a:p>
            <a:pPr marL="0" indent="0">
              <a:buNone/>
            </a:pPr>
            <a:r>
              <a:rPr lang="en-US" altLang="zh-CN" b="1" dirty="0">
                <a:solidFill>
                  <a:schemeClr val="accent2">
                    <a:lumMod val="60000"/>
                    <a:lumOff val="40000"/>
                  </a:schemeClr>
                </a:solidFill>
              </a:rPr>
              <a:t>Domain Research ( Elevator Dispatch </a:t>
            </a:r>
            <a:r>
              <a:rPr lang="en-US" altLang="zh-CN" b="1" dirty="0" err="1">
                <a:solidFill>
                  <a:schemeClr val="accent2">
                    <a:lumMod val="60000"/>
                    <a:lumOff val="40000"/>
                  </a:schemeClr>
                </a:solidFill>
              </a:rPr>
              <a:t>Optimisation</a:t>
            </a:r>
            <a:r>
              <a:rPr lang="en-US" altLang="zh-CN" b="1" dirty="0">
                <a:solidFill>
                  <a:schemeClr val="accent2">
                    <a:lumMod val="60000"/>
                    <a:lumOff val="40000"/>
                  </a:schemeClr>
                </a:solidFill>
              </a:rPr>
              <a:t>)</a:t>
            </a:r>
          </a:p>
          <a:p>
            <a:r>
              <a:rPr lang="en-US" dirty="0"/>
              <a:t>Reactive: CV occupancy-aware (Wang et al., 2021); Dispatch control RL Opti </a:t>
            </a:r>
            <a:r>
              <a:rPr lang="en-MY" dirty="0"/>
              <a:t>(Crites &amp; Barto, 1995)</a:t>
            </a:r>
            <a:r>
              <a:rPr lang="en-US" dirty="0"/>
              <a:t>;</a:t>
            </a:r>
          </a:p>
          <a:p>
            <a:r>
              <a:rPr lang="en-US" dirty="0"/>
              <a:t>Proactive</a:t>
            </a:r>
            <a:r>
              <a:rPr lang="en-US" dirty="0">
                <a:solidFill>
                  <a:schemeClr val="accent2"/>
                </a:solidFill>
              </a:rPr>
              <a:t>: Standby floor scoring system</a:t>
            </a:r>
            <a:r>
              <a:rPr lang="en-MY" dirty="0">
                <a:solidFill>
                  <a:schemeClr val="accent2"/>
                </a:solidFill>
              </a:rPr>
              <a:t>(-AWT:~24%) </a:t>
            </a:r>
            <a:r>
              <a:rPr lang="en-MY" dirty="0"/>
              <a:t>(Tsai et al., 2025)</a:t>
            </a:r>
            <a:r>
              <a:rPr lang="en-US" dirty="0"/>
              <a:t>; Arrival time prediction based on users’ trajectory </a:t>
            </a:r>
            <a:r>
              <a:rPr lang="en-MY" dirty="0"/>
              <a:t>(Zhang et al., 2022)</a:t>
            </a:r>
            <a:endParaRPr lang="en-US" dirty="0"/>
          </a:p>
          <a:p>
            <a:endParaRPr lang="en-US" dirty="0"/>
          </a:p>
          <a:p>
            <a:pPr marL="0" indent="0">
              <a:buNone/>
            </a:pPr>
            <a:r>
              <a:rPr lang="en-US" b="1" dirty="0">
                <a:solidFill>
                  <a:schemeClr val="accent2">
                    <a:lumMod val="60000"/>
                    <a:lumOff val="40000"/>
                  </a:schemeClr>
                </a:solidFill>
              </a:rPr>
              <a:t>Dataset</a:t>
            </a:r>
          </a:p>
          <a:p>
            <a:r>
              <a:rPr lang="en-US" dirty="0"/>
              <a:t>All previous similar work using a simulator</a:t>
            </a:r>
          </a:p>
          <a:p>
            <a:r>
              <a:rPr lang="en-US" dirty="0"/>
              <a:t>Poisson process </a:t>
            </a:r>
            <a:r>
              <a:rPr lang="en-MY" dirty="0"/>
              <a:t>(Crites &amp; Barto, 1995)</a:t>
            </a:r>
            <a:r>
              <a:rPr lang="en-US" dirty="0"/>
              <a:t> and Gaussian-based</a:t>
            </a:r>
            <a:r>
              <a:rPr lang="en-MY" dirty="0">
                <a:solidFill>
                  <a:schemeClr val="accent2"/>
                </a:solidFill>
              </a:rPr>
              <a:t> </a:t>
            </a:r>
            <a:r>
              <a:rPr lang="en-MY" dirty="0"/>
              <a:t>(Tsai et al., 2025)</a:t>
            </a:r>
            <a:r>
              <a:rPr lang="en-US" dirty="0"/>
              <a:t> arrival rate</a:t>
            </a:r>
            <a:endParaRPr lang="en-MY" dirty="0"/>
          </a:p>
        </p:txBody>
      </p:sp>
      <p:sp>
        <p:nvSpPr>
          <p:cNvPr id="6" name="Content Placeholder 5">
            <a:extLst>
              <a:ext uri="{FF2B5EF4-FFF2-40B4-BE49-F238E27FC236}">
                <a16:creationId xmlns:a16="http://schemas.microsoft.com/office/drawing/2014/main" id="{B28DFCE2-BE62-0BE2-E0FB-957804C80135}"/>
              </a:ext>
            </a:extLst>
          </p:cNvPr>
          <p:cNvSpPr>
            <a:spLocks noGrp="1"/>
          </p:cNvSpPr>
          <p:nvPr>
            <p:ph sz="half" idx="2"/>
          </p:nvPr>
        </p:nvSpPr>
        <p:spPr>
          <a:xfrm>
            <a:off x="5089969" y="651511"/>
            <a:ext cx="4518979" cy="5389852"/>
          </a:xfrm>
        </p:spPr>
        <p:txBody>
          <a:bodyPr>
            <a:normAutofit lnSpcReduction="10000"/>
          </a:bodyPr>
          <a:lstStyle/>
          <a:p>
            <a:pPr marL="0" indent="0">
              <a:buNone/>
            </a:pPr>
            <a:r>
              <a:rPr lang="en-MY" b="1" dirty="0">
                <a:solidFill>
                  <a:schemeClr val="accent2">
                    <a:lumMod val="60000"/>
                    <a:lumOff val="40000"/>
                  </a:schemeClr>
                </a:solidFill>
              </a:rPr>
              <a:t>Predictor</a:t>
            </a:r>
          </a:p>
          <a:p>
            <a:r>
              <a:rPr lang="en-MY" dirty="0"/>
              <a:t>Statistical Models: (ARIMA, SARIMA)</a:t>
            </a:r>
          </a:p>
          <a:p>
            <a:pPr lvl="1"/>
            <a:r>
              <a:rPr lang="en-MY" dirty="0"/>
              <a:t>Easy to implement</a:t>
            </a:r>
          </a:p>
          <a:p>
            <a:pPr lvl="1"/>
            <a:r>
              <a:rPr lang="en-US" dirty="0"/>
              <a:t>Computationally efficient and low-cost</a:t>
            </a:r>
          </a:p>
          <a:p>
            <a:pPr lvl="1"/>
            <a:r>
              <a:rPr lang="en-US" dirty="0"/>
              <a:t>Design for regression, not suitable for classification task </a:t>
            </a:r>
            <a:r>
              <a:rPr lang="en-MY" dirty="0"/>
              <a:t>(Fatima &amp; Rahimi, 2024)</a:t>
            </a:r>
          </a:p>
          <a:p>
            <a:r>
              <a:rPr lang="en-US" altLang="zh-CN" dirty="0"/>
              <a:t>RNNs: (RNN, LSTM, GRU)</a:t>
            </a:r>
          </a:p>
          <a:p>
            <a:pPr lvl="1"/>
            <a:r>
              <a:rPr lang="en-US" altLang="zh-CN" dirty="0"/>
              <a:t>Able to capture long-term dependencies</a:t>
            </a:r>
          </a:p>
          <a:p>
            <a:pPr lvl="1"/>
            <a:r>
              <a:rPr lang="en-US" altLang="zh-CN" dirty="0"/>
              <a:t>Gradient explosion/vanishing problem limit dependencies range </a:t>
            </a:r>
            <a:r>
              <a:rPr lang="en-MY" dirty="0"/>
              <a:t>(</a:t>
            </a:r>
            <a:r>
              <a:rPr lang="en-MY" dirty="0" err="1"/>
              <a:t>Sherstinsky</a:t>
            </a:r>
            <a:r>
              <a:rPr lang="en-MY" dirty="0"/>
              <a:t>, 2020)</a:t>
            </a:r>
            <a:endParaRPr lang="en-US" altLang="zh-CN" dirty="0"/>
          </a:p>
          <a:p>
            <a:r>
              <a:rPr lang="en-US" altLang="zh-CN" dirty="0"/>
              <a:t>TCN:</a:t>
            </a:r>
          </a:p>
          <a:p>
            <a:pPr lvl="1"/>
            <a:r>
              <a:rPr lang="en-US" altLang="zh-CN" dirty="0"/>
              <a:t>Able to capture longer-range dependencies compared to RNNs</a:t>
            </a:r>
          </a:p>
          <a:p>
            <a:pPr lvl="1"/>
            <a:r>
              <a:rPr lang="en-US" altLang="zh-CN" dirty="0"/>
              <a:t>High training efficiency </a:t>
            </a:r>
            <a:r>
              <a:rPr lang="en-MY" dirty="0"/>
              <a:t>(D. Kim, 2023) </a:t>
            </a:r>
            <a:endParaRPr lang="en-US" altLang="zh-CN" dirty="0"/>
          </a:p>
          <a:p>
            <a:endParaRPr lang="en-MY" dirty="0"/>
          </a:p>
          <a:p>
            <a:endParaRPr lang="en-US" dirty="0"/>
          </a:p>
        </p:txBody>
      </p:sp>
    </p:spTree>
    <p:extLst>
      <p:ext uri="{BB962C8B-B14F-4D97-AF65-F5344CB8AC3E}">
        <p14:creationId xmlns:p14="http://schemas.microsoft.com/office/powerpoint/2010/main" val="513812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2866-7C49-6351-79D4-1143D906C2D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299FD3-2DEC-3C53-ED2C-93955FD08005}"/>
              </a:ext>
            </a:extLst>
          </p:cNvPr>
          <p:cNvSpPr>
            <a:spLocks noGrp="1"/>
          </p:cNvSpPr>
          <p:nvPr>
            <p:ph sz="half" idx="1"/>
          </p:nvPr>
        </p:nvSpPr>
        <p:spPr>
          <a:xfrm>
            <a:off x="677334" y="651510"/>
            <a:ext cx="8596670" cy="5389851"/>
          </a:xfrm>
        </p:spPr>
        <p:txBody>
          <a:bodyPr/>
          <a:lstStyle/>
          <a:p>
            <a:r>
              <a:rPr lang="en-MY" dirty="0"/>
              <a:t>Transformers:</a:t>
            </a:r>
          </a:p>
          <a:p>
            <a:pPr lvl="1"/>
            <a:r>
              <a:rPr lang="en-MY" dirty="0"/>
              <a:t>Able to process extremely long-range dependencies</a:t>
            </a:r>
          </a:p>
          <a:p>
            <a:pPr lvl="1"/>
            <a:r>
              <a:rPr lang="en-MY" dirty="0"/>
              <a:t>Able to capture global temporal dependencies</a:t>
            </a:r>
          </a:p>
          <a:p>
            <a:pPr lvl="1"/>
            <a:r>
              <a:rPr lang="en-MY" dirty="0"/>
              <a:t>Outperform RNNs and TCN in a longer range of dependencies (Hall &amp; Rasheed, 2025) </a:t>
            </a:r>
          </a:p>
          <a:p>
            <a:pPr lvl="1"/>
            <a:r>
              <a:rPr lang="en-MY" dirty="0"/>
              <a:t>Require higher computation and memory (Kong et al., 2025)</a:t>
            </a:r>
          </a:p>
          <a:p>
            <a:pPr lvl="1"/>
            <a:endParaRPr lang="en-MY" dirty="0"/>
          </a:p>
          <a:p>
            <a:pPr marL="0" indent="0">
              <a:buNone/>
            </a:pPr>
            <a:r>
              <a:rPr lang="en-MY" b="1" dirty="0">
                <a:solidFill>
                  <a:schemeClr val="accent2">
                    <a:lumMod val="60000"/>
                    <a:lumOff val="40000"/>
                  </a:schemeClr>
                </a:solidFill>
              </a:rPr>
              <a:t>Interesting</a:t>
            </a:r>
            <a:r>
              <a:rPr lang="en-MY" dirty="0"/>
              <a:t> </a:t>
            </a:r>
            <a:r>
              <a:rPr lang="en-MY" b="1" dirty="0">
                <a:solidFill>
                  <a:schemeClr val="accent2">
                    <a:lumMod val="60000"/>
                    <a:lumOff val="40000"/>
                  </a:schemeClr>
                </a:solidFill>
              </a:rPr>
              <a:t>study:</a:t>
            </a:r>
          </a:p>
          <a:p>
            <a:r>
              <a:rPr lang="en-MY" dirty="0"/>
              <a:t>Encoder-decoder separated LSTM (W. Zhang et al., 2019) </a:t>
            </a:r>
          </a:p>
          <a:p>
            <a:r>
              <a:rPr lang="en-MY" dirty="0"/>
              <a:t>Hybrid model GRU-TCN  (Nanni et al., 2021) </a:t>
            </a:r>
          </a:p>
        </p:txBody>
      </p:sp>
    </p:spTree>
    <p:extLst>
      <p:ext uri="{BB962C8B-B14F-4D97-AF65-F5344CB8AC3E}">
        <p14:creationId xmlns:p14="http://schemas.microsoft.com/office/powerpoint/2010/main" val="350745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1E9BA-48E2-ACD5-3C45-239F20795741}"/>
              </a:ext>
            </a:extLst>
          </p:cNvPr>
          <p:cNvSpPr>
            <a:spLocks noGrp="1"/>
          </p:cNvSpPr>
          <p:nvPr>
            <p:ph type="title"/>
          </p:nvPr>
        </p:nvSpPr>
        <p:spPr/>
        <p:txBody>
          <a:bodyPr/>
          <a:lstStyle/>
          <a:p>
            <a:r>
              <a:rPr lang="en-MY" dirty="0"/>
              <a:t>METHODOLOGY</a:t>
            </a:r>
          </a:p>
        </p:txBody>
      </p:sp>
      <p:sp>
        <p:nvSpPr>
          <p:cNvPr id="3" name="Text Placeholder 2">
            <a:extLst>
              <a:ext uri="{FF2B5EF4-FFF2-40B4-BE49-F238E27FC236}">
                <a16:creationId xmlns:a16="http://schemas.microsoft.com/office/drawing/2014/main" id="{A8A2F072-D447-BF6D-FC08-D866EDBD0B88}"/>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542872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043E-45D4-CD29-E628-D4F50A80D6C9}"/>
              </a:ext>
            </a:extLst>
          </p:cNvPr>
          <p:cNvSpPr>
            <a:spLocks noGrp="1"/>
          </p:cNvSpPr>
          <p:nvPr>
            <p:ph type="title"/>
          </p:nvPr>
        </p:nvSpPr>
        <p:spPr/>
        <p:txBody>
          <a:bodyPr/>
          <a:lstStyle/>
          <a:p>
            <a:r>
              <a:rPr lang="en-MY" dirty="0"/>
              <a:t>DATA &amp; </a:t>
            </a:r>
            <a:r>
              <a:rPr lang="en-US" altLang="zh-CN" dirty="0"/>
              <a:t>ENVIRONMENT </a:t>
            </a:r>
            <a:r>
              <a:rPr lang="en-MY" dirty="0"/>
              <a:t>SIMULATIONS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A7B01A-1E4F-5B57-B5A2-6DDEE9143623}"/>
                  </a:ext>
                </a:extLst>
              </p:cNvPr>
              <p:cNvSpPr>
                <a:spLocks noGrp="1"/>
              </p:cNvSpPr>
              <p:nvPr>
                <p:ph sz="half" idx="1"/>
              </p:nvPr>
            </p:nvSpPr>
            <p:spPr>
              <a:xfrm>
                <a:off x="274320" y="1314450"/>
                <a:ext cx="9578340" cy="5029200"/>
              </a:xfrm>
            </p:spPr>
            <p:txBody>
              <a:bodyPr>
                <a:normAutofit/>
              </a:bodyPr>
              <a:lstStyle/>
              <a:p>
                <a:pPr marL="0" indent="0">
                  <a:buNone/>
                </a:pPr>
                <a:r>
                  <a:rPr lang="en-MY" sz="1600" b="1" dirty="0">
                    <a:solidFill>
                      <a:schemeClr val="accent2">
                        <a:lumMod val="60000"/>
                        <a:lumOff val="40000"/>
                      </a:schemeClr>
                    </a:solidFill>
                  </a:rPr>
                  <a:t>Arrival Simulation</a:t>
                </a:r>
              </a:p>
              <a:p>
                <a:r>
                  <a:rPr lang="en-MY" sz="1600" dirty="0"/>
                  <a:t> A formula to decide the global arrival rate in time (Gaussian Based) :</a:t>
                </a:r>
              </a:p>
              <a:p>
                <a:pPr marL="0" indent="0">
                  <a:buNone/>
                </a:pPr>
                <a:r>
                  <a:rPr lang="en-US" sz="1600" b="1" dirty="0"/>
                  <a:t>	</a:t>
                </a:r>
                <a14:m>
                  <m:oMath xmlns:m="http://schemas.openxmlformats.org/officeDocument/2006/math">
                    <m:r>
                      <a:rPr lang="en-US" sz="1600" b="1" i="1" smtClean="0">
                        <a:latin typeface="Cambria Math" panose="02040503050406030204" pitchFamily="18" charset="0"/>
                      </a:rPr>
                      <m:t>𝝀</m:t>
                    </m:r>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𝟏</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𝟏</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r>
                          <a:rPr lang="en-US" sz="1600" b="1" i="1">
                            <a:latin typeface="Cambria Math" panose="02040503050406030204" pitchFamily="18" charset="0"/>
                          </a:rPr>
                          <m:t>𝟐</m:t>
                        </m:r>
                        <m:sSubSup>
                          <m:sSubSupPr>
                            <m:ctrlPr>
                              <a:rPr lang="en-MY" sz="1600" b="1" i="1">
                                <a:latin typeface="Cambria Math" panose="02040503050406030204" pitchFamily="18" charset="0"/>
                              </a:rPr>
                            </m:ctrlPr>
                          </m:sSubSupPr>
                          <m:e>
                            <m:r>
                              <a:rPr lang="en-US" sz="1600" b="1" i="1">
                                <a:latin typeface="Cambria Math" panose="02040503050406030204" pitchFamily="18" charset="0"/>
                              </a:rPr>
                              <m:t>𝝈</m:t>
                            </m:r>
                          </m:e>
                          <m:sub>
                            <m:r>
                              <a:rPr lang="en-US" sz="1600" b="1" i="1">
                                <a:latin typeface="Cambria Math" panose="02040503050406030204" pitchFamily="18" charset="0"/>
                              </a:rPr>
                              <m:t>𝟏</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𝟐</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𝟐</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r>
                          <a:rPr lang="en-US" sz="1600" b="1" i="1">
                            <a:latin typeface="Cambria Math" panose="02040503050406030204" pitchFamily="18" charset="0"/>
                          </a:rPr>
                          <m:t>𝟐</m:t>
                        </m:r>
                        <m:sSubSup>
                          <m:sSubSupPr>
                            <m:ctrlPr>
                              <a:rPr lang="en-MY" sz="1600" b="1" i="1">
                                <a:latin typeface="Cambria Math" panose="02040503050406030204" pitchFamily="18" charset="0"/>
                              </a:rPr>
                            </m:ctrlPr>
                          </m:sSubSupPr>
                          <m:e>
                            <m:r>
                              <a:rPr lang="en-US" sz="1600" b="1" i="1">
                                <a:latin typeface="Cambria Math" panose="02040503050406030204" pitchFamily="18" charset="0"/>
                              </a:rPr>
                              <m:t>𝝈</m:t>
                            </m:r>
                          </m:e>
                          <m:sub>
                            <m:r>
                              <a:rPr lang="en-US" sz="1600" b="1" i="1">
                                <a:latin typeface="Cambria Math" panose="02040503050406030204" pitchFamily="18" charset="0"/>
                              </a:rPr>
                              <m:t>𝟐</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𝑨</m:t>
                        </m:r>
                      </m:e>
                      <m:sub>
                        <m:r>
                          <a:rPr lang="en-US" sz="1600" b="1" i="1">
                            <a:latin typeface="Cambria Math" panose="02040503050406030204" pitchFamily="18" charset="0"/>
                          </a:rPr>
                          <m:t>𝟑</m:t>
                        </m:r>
                      </m:sub>
                    </m:sSub>
                    <m:r>
                      <a:rPr lang="en-US" sz="1600" b="1" i="1">
                        <a:latin typeface="Cambria Math" panose="02040503050406030204" pitchFamily="18" charset="0"/>
                      </a:rPr>
                      <m:t>​⋅</m:t>
                    </m:r>
                    <m:r>
                      <a:rPr lang="en-US" sz="1600" b="1" i="1">
                        <a:latin typeface="Cambria Math" panose="02040503050406030204" pitchFamily="18" charset="0"/>
                      </a:rPr>
                      <m:t>𝒆𝒙𝒑</m:t>
                    </m:r>
                    <m:r>
                      <a:rPr lang="en-US" sz="1600" b="1" i="1">
                        <a:latin typeface="Cambria Math" panose="02040503050406030204" pitchFamily="18" charset="0"/>
                      </a:rPr>
                      <m:t>(−</m:t>
                    </m:r>
                    <m:f>
                      <m:fPr>
                        <m:ctrlPr>
                          <a:rPr lang="en-MY" sz="1600" b="1" i="1">
                            <a:latin typeface="Cambria Math" panose="02040503050406030204" pitchFamily="18" charset="0"/>
                          </a:rPr>
                        </m:ctrlPr>
                      </m:fPr>
                      <m:num>
                        <m:sSup>
                          <m:sSupPr>
                            <m:ctrlPr>
                              <a:rPr lang="en-MY" sz="1600" b="1" i="1">
                                <a:latin typeface="Cambria Math" panose="02040503050406030204" pitchFamily="18" charset="0"/>
                              </a:rPr>
                            </m:ctrlPr>
                          </m:sSupPr>
                          <m:e>
                            <m:r>
                              <a:rPr lang="en-US" sz="1600" b="1" i="1">
                                <a:latin typeface="Cambria Math" panose="02040503050406030204" pitchFamily="18" charset="0"/>
                              </a:rPr>
                              <m:t>(</m:t>
                            </m:r>
                            <m:r>
                              <a:rPr lang="en-US" sz="1600" b="1" i="1">
                                <a:latin typeface="Cambria Math" panose="02040503050406030204" pitchFamily="18" charset="0"/>
                              </a:rPr>
                              <m:t>𝒕</m:t>
                            </m:r>
                            <m:r>
                              <a:rPr lang="en-US" sz="1600" b="1" i="1">
                                <a:latin typeface="Cambria Math" panose="02040503050406030204" pitchFamily="18" charset="0"/>
                              </a:rPr>
                              <m:t>−</m:t>
                            </m:r>
                            <m:sSub>
                              <m:sSubPr>
                                <m:ctrlPr>
                                  <a:rPr lang="en-MY" sz="1600" b="1" i="1">
                                    <a:latin typeface="Cambria Math" panose="02040503050406030204" pitchFamily="18" charset="0"/>
                                  </a:rPr>
                                </m:ctrlPr>
                              </m:sSubPr>
                              <m:e>
                                <m:r>
                                  <a:rPr lang="en-US" sz="1600" b="1" i="1">
                                    <a:latin typeface="Cambria Math" panose="02040503050406030204" pitchFamily="18" charset="0"/>
                                  </a:rPr>
                                  <m:t>𝝁</m:t>
                                </m:r>
                              </m:e>
                              <m:sub>
                                <m:r>
                                  <a:rPr lang="en-US" sz="1600" b="1" i="1">
                                    <a:latin typeface="Cambria Math" panose="02040503050406030204" pitchFamily="18" charset="0"/>
                                  </a:rPr>
                                  <m:t>𝟑</m:t>
                                </m:r>
                              </m:sub>
                            </m:sSub>
                            <m:r>
                              <a:rPr lang="en-US" sz="1600" b="1" i="1">
                                <a:latin typeface="Cambria Math" panose="02040503050406030204" pitchFamily="18" charset="0"/>
                              </a:rPr>
                              <m:t>)</m:t>
                            </m:r>
                          </m:e>
                          <m:sup>
                            <m:r>
                              <a:rPr lang="en-US" sz="1600" b="1" i="1">
                                <a:latin typeface="Cambria Math" panose="02040503050406030204" pitchFamily="18" charset="0"/>
                              </a:rPr>
                              <m:t>𝟐</m:t>
                            </m:r>
                          </m:sup>
                        </m:sSup>
                      </m:num>
                      <m:den>
                        <m:sSubSup>
                          <m:sSubSupPr>
                            <m:ctrlPr>
                              <a:rPr lang="en-MY" sz="1600" b="1" i="1">
                                <a:latin typeface="Cambria Math" panose="02040503050406030204" pitchFamily="18" charset="0"/>
                              </a:rPr>
                            </m:ctrlPr>
                          </m:sSubSupPr>
                          <m:e>
                            <m:r>
                              <a:rPr lang="en-US" sz="1600" b="1" i="1">
                                <a:latin typeface="Cambria Math" panose="02040503050406030204" pitchFamily="18" charset="0"/>
                              </a:rPr>
                              <m:t>𝟐</m:t>
                            </m:r>
                            <m:r>
                              <a:rPr lang="en-US" sz="1600" b="1" i="1">
                                <a:latin typeface="Cambria Math" panose="02040503050406030204" pitchFamily="18" charset="0"/>
                              </a:rPr>
                              <m:t>𝝈</m:t>
                            </m:r>
                          </m:e>
                          <m:sub>
                            <m:r>
                              <a:rPr lang="en-US" sz="1600" b="1" i="1">
                                <a:latin typeface="Cambria Math" panose="02040503050406030204" pitchFamily="18" charset="0"/>
                              </a:rPr>
                              <m:t>𝟑</m:t>
                            </m:r>
                          </m:sub>
                          <m:sup>
                            <m:r>
                              <a:rPr lang="en-US" sz="1600" b="1" i="1">
                                <a:latin typeface="Cambria Math" panose="02040503050406030204" pitchFamily="18" charset="0"/>
                              </a:rPr>
                              <m:t>𝟐</m:t>
                            </m:r>
                          </m:sup>
                        </m:sSubSup>
                      </m:den>
                    </m:f>
                    <m:r>
                      <a:rPr lang="en-US" sz="1600" b="1" i="1">
                        <a:latin typeface="Cambria Math" panose="02040503050406030204" pitchFamily="18" charset="0"/>
                      </a:rPr>
                      <m:t>​)+</m:t>
                    </m:r>
                    <m:r>
                      <a:rPr lang="en-US" sz="1600" b="1" i="1">
                        <a:latin typeface="Cambria Math" panose="02040503050406030204" pitchFamily="18" charset="0"/>
                      </a:rPr>
                      <m:t>𝜺</m:t>
                    </m:r>
                  </m:oMath>
                </a14:m>
                <a:endParaRPr lang="en-MY" sz="1600" dirty="0"/>
              </a:p>
              <a:p>
                <a:r>
                  <a:rPr lang="en-MY" sz="1600" dirty="0"/>
                  <a:t>Determine the traffic pattern in time:</a:t>
                </a:r>
              </a:p>
              <a:p>
                <a:pPr marL="0" indent="0">
                  <a:buNone/>
                </a:pPr>
                <a:r>
                  <a:rPr lang="en-MY" sz="1600" dirty="0"/>
                  <a:t>	Workday:</a:t>
                </a:r>
              </a:p>
              <a:p>
                <a:pPr lvl="1"/>
                <a:r>
                  <a:rPr lang="en-MY" dirty="0"/>
                  <a:t>Morning up-peak (7-10:00): predominantly upward movement (lobby/carpark -&gt; upper)</a:t>
                </a:r>
              </a:p>
              <a:p>
                <a:pPr lvl="1"/>
                <a:r>
                  <a:rPr lang="en-MY" dirty="0"/>
                  <a:t>Lunchtime peak (11-14:30): mainly inter-floor trips</a:t>
                </a:r>
              </a:p>
              <a:p>
                <a:pPr lvl="1"/>
                <a:r>
                  <a:rPr lang="en-MY" dirty="0"/>
                  <a:t>Evening down-peak (16-21:00): predominantly downward movement (upper/carpark</a:t>
                </a:r>
                <a:r>
                  <a:rPr lang="zh-CN" altLang="en-US" dirty="0"/>
                  <a:t> </a:t>
                </a:r>
                <a:r>
                  <a:rPr lang="en-MY" altLang="zh-CN" dirty="0"/>
                  <a:t>-&gt;lobby)</a:t>
                </a:r>
              </a:p>
              <a:p>
                <a:r>
                  <a:rPr lang="en-MY" sz="1600" dirty="0"/>
                  <a:t>Weekday/Weekend/Holiday differentiation:</a:t>
                </a:r>
              </a:p>
              <a:p>
                <a:pPr lvl="1"/>
                <a:r>
                  <a:rPr lang="en-MY" dirty="0"/>
                  <a:t>Using A</a:t>
                </a:r>
                <a:r>
                  <a:rPr lang="en-MY" baseline="-25000" dirty="0"/>
                  <a:t>i</a:t>
                </a:r>
                <a:r>
                  <a:rPr lang="en-MY" dirty="0"/>
                  <a:t> to control the number of arrival</a:t>
                </a:r>
              </a:p>
              <a:p>
                <a:pPr lvl="1"/>
                <a:r>
                  <a:rPr lang="en-MY" dirty="0"/>
                  <a:t>Larger A</a:t>
                </a:r>
                <a:r>
                  <a:rPr lang="en-MY" baseline="-25000" dirty="0"/>
                  <a:t>i</a:t>
                </a:r>
                <a:r>
                  <a:rPr lang="en-MY" dirty="0"/>
                  <a:t> in weekday, lower in weekend and holiday</a:t>
                </a:r>
              </a:p>
              <a:p>
                <a:r>
                  <a:rPr lang="en-MY" sz="1600" dirty="0"/>
                  <a:t>Dense Level Control</a:t>
                </a:r>
              </a:p>
              <a:p>
                <a:pPr lvl="1"/>
                <a:r>
                  <a:rPr lang="en-MY" dirty="0"/>
                  <a:t>Adjusting </a:t>
                </a:r>
                <a:r>
                  <a:rPr kumimoji="0" lang="en-MY"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A</a:t>
                </a:r>
                <a:r>
                  <a:rPr kumimoji="0" lang="en-MY" b="0" i="0" u="none" strike="noStrike" kern="1200" cap="none" spc="0" normalizeH="0" baseline="-25000" noProof="0" dirty="0">
                    <a:ln>
                      <a:noFill/>
                    </a:ln>
                    <a:solidFill>
                      <a:prstClr val="black">
                        <a:lumMod val="75000"/>
                        <a:lumOff val="25000"/>
                      </a:prstClr>
                    </a:solidFill>
                    <a:effectLst/>
                    <a:uLnTx/>
                    <a:uFillTx/>
                    <a:latin typeface="Trebuchet MS" panose="020B0603020202020204"/>
                    <a:ea typeface="+mn-ea"/>
                    <a:cs typeface="+mn-cs"/>
                  </a:rPr>
                  <a:t>i</a:t>
                </a:r>
                <a:r>
                  <a:rPr lang="en-MY" dirty="0"/>
                  <a:t> to generate two set of data, different in demand level (low and high)</a:t>
                </a:r>
              </a:p>
              <a:p>
                <a:pPr lvl="1"/>
                <a:endParaRPr lang="en-MY" sz="1200" dirty="0"/>
              </a:p>
              <a:p>
                <a:endParaRPr lang="en-MY" dirty="0"/>
              </a:p>
            </p:txBody>
          </p:sp>
        </mc:Choice>
        <mc:Fallback xmlns="">
          <p:sp>
            <p:nvSpPr>
              <p:cNvPr id="3" name="Content Placeholder 2">
                <a:extLst>
                  <a:ext uri="{FF2B5EF4-FFF2-40B4-BE49-F238E27FC236}">
                    <a16:creationId xmlns:a16="http://schemas.microsoft.com/office/drawing/2014/main" id="{29A7B01A-1E4F-5B57-B5A2-6DDEE9143623}"/>
                  </a:ext>
                </a:extLst>
              </p:cNvPr>
              <p:cNvSpPr>
                <a:spLocks noGrp="1" noRot="1" noChangeAspect="1" noMove="1" noResize="1" noEditPoints="1" noAdjustHandles="1" noChangeArrowheads="1" noChangeShapeType="1" noTextEdit="1"/>
              </p:cNvSpPr>
              <p:nvPr>
                <p:ph sz="half" idx="1"/>
              </p:nvPr>
            </p:nvSpPr>
            <p:spPr>
              <a:xfrm>
                <a:off x="274320" y="1314450"/>
                <a:ext cx="9578340" cy="5029200"/>
              </a:xfrm>
              <a:blipFill>
                <a:blip r:embed="rId3"/>
                <a:stretch>
                  <a:fillRect l="-318" t="-485" b="-485"/>
                </a:stretch>
              </a:blipFill>
            </p:spPr>
            <p:txBody>
              <a:bodyPr/>
              <a:lstStyle/>
              <a:p>
                <a:r>
                  <a:rPr lang="en-MY">
                    <a:noFill/>
                  </a:rPr>
                  <a:t> </a:t>
                </a:r>
              </a:p>
            </p:txBody>
          </p:sp>
        </mc:Fallback>
      </mc:AlternateContent>
      <p:sp>
        <p:nvSpPr>
          <p:cNvPr id="4" name="Rectangle 3">
            <a:extLst>
              <a:ext uri="{FF2B5EF4-FFF2-40B4-BE49-F238E27FC236}">
                <a16:creationId xmlns:a16="http://schemas.microsoft.com/office/drawing/2014/main" id="{920918EC-0ECC-7FE0-BA61-B9B75FFC791F}"/>
              </a:ext>
            </a:extLst>
          </p:cNvPr>
          <p:cNvSpPr/>
          <p:nvPr/>
        </p:nvSpPr>
        <p:spPr>
          <a:xfrm>
            <a:off x="1371600" y="2044700"/>
            <a:ext cx="1765300" cy="5290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850289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E6AD2B7-75BB-ACA6-8652-CF12ED921459}"/>
              </a:ext>
            </a:extLst>
          </p:cNvPr>
          <p:cNvGrpSpPr/>
          <p:nvPr/>
        </p:nvGrpSpPr>
        <p:grpSpPr>
          <a:xfrm>
            <a:off x="4893976" y="1349156"/>
            <a:ext cx="7306229" cy="3851077"/>
            <a:chOff x="4885771" y="1"/>
            <a:chExt cx="7306229" cy="3851077"/>
          </a:xfrm>
        </p:grpSpPr>
        <p:pic>
          <p:nvPicPr>
            <p:cNvPr id="2" name="Picture 1">
              <a:extLst>
                <a:ext uri="{FF2B5EF4-FFF2-40B4-BE49-F238E27FC236}">
                  <a16:creationId xmlns:a16="http://schemas.microsoft.com/office/drawing/2014/main" id="{71104F8A-2F2F-B141-695F-F47F2F21F92A}"/>
                </a:ext>
              </a:extLst>
            </p:cNvPr>
            <p:cNvPicPr>
              <a:picLocks noChangeAspect="1"/>
            </p:cNvPicPr>
            <p:nvPr/>
          </p:nvPicPr>
          <p:blipFill>
            <a:blip r:embed="rId3"/>
            <a:stretch>
              <a:fillRect/>
            </a:stretch>
          </p:blipFill>
          <p:spPr>
            <a:xfrm>
              <a:off x="4885771" y="1"/>
              <a:ext cx="7306229" cy="3543300"/>
            </a:xfrm>
            <a:prstGeom prst="rect">
              <a:avLst/>
            </a:prstGeom>
          </p:spPr>
        </p:pic>
        <p:sp>
          <p:nvSpPr>
            <p:cNvPr id="3" name="TextBox 2">
              <a:extLst>
                <a:ext uri="{FF2B5EF4-FFF2-40B4-BE49-F238E27FC236}">
                  <a16:creationId xmlns:a16="http://schemas.microsoft.com/office/drawing/2014/main" id="{2EB98020-B1BB-E5EB-9CE3-7FF8AA01E29C}"/>
                </a:ext>
              </a:extLst>
            </p:cNvPr>
            <p:cNvSpPr txBox="1"/>
            <p:nvPr/>
          </p:nvSpPr>
          <p:spPr>
            <a:xfrm>
              <a:off x="8547091" y="3543301"/>
              <a:ext cx="3644909" cy="307777"/>
            </a:xfrm>
            <a:prstGeom prst="rect">
              <a:avLst/>
            </a:prstGeom>
            <a:noFill/>
          </p:spPr>
          <p:txBody>
            <a:bodyPr wrap="none" rtlCol="0">
              <a:spAutoFit/>
            </a:bodyPr>
            <a:lstStyle/>
            <a:p>
              <a:r>
                <a:rPr lang="en-MY" sz="1400" dirty="0"/>
                <a:t>Daily traffic profile from </a:t>
              </a:r>
              <a:r>
                <a:rPr lang="en-US" sz="1400" b="1" dirty="0"/>
                <a:t>Tsai et al. (2025)</a:t>
              </a:r>
              <a:endParaRPr lang="en-MY" sz="1400" dirty="0"/>
            </a:p>
          </p:txBody>
        </p:sp>
      </p:gr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FD18665-18AE-A383-6052-D11DBD1EE4DF}"/>
                  </a:ext>
                </a:extLst>
              </p:cNvPr>
              <p:cNvSpPr txBox="1">
                <a:spLocks/>
              </p:cNvSpPr>
              <p:nvPr/>
            </p:nvSpPr>
            <p:spPr>
              <a:xfrm>
                <a:off x="704850" y="297180"/>
                <a:ext cx="3981450" cy="626364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MY" sz="1600" b="1" dirty="0">
                    <a:solidFill>
                      <a:schemeClr val="accent2">
                        <a:lumMod val="60000"/>
                        <a:lumOff val="40000"/>
                      </a:schemeClr>
                    </a:solidFill>
                  </a:rPr>
                  <a:t>Building Simulation</a:t>
                </a:r>
              </a:p>
              <a:p>
                <a:r>
                  <a:rPr lang="en-MY" sz="1400" dirty="0"/>
                  <a:t>Two profiles:</a:t>
                </a:r>
              </a:p>
              <a:p>
                <a:pPr lvl="1"/>
                <a:r>
                  <a:rPr lang="en-MY" sz="1400" dirty="0"/>
                  <a:t> Low-rise: 10-floor, 1 elevator, no carpark</a:t>
                </a:r>
              </a:p>
              <a:p>
                <a:pPr lvl="1"/>
                <a:r>
                  <a:rPr lang="en-MY" sz="1400" dirty="0"/>
                  <a:t>High-rise: 40-floor, 4 elevator, 2-5 floor are the carparks</a:t>
                </a:r>
              </a:p>
              <a:p>
                <a:pPr marL="0" indent="0">
                  <a:buFont typeface="Wingdings 3" charset="2"/>
                  <a:buNone/>
                </a:pPr>
                <a:endParaRPr lang="en-MY" sz="1400" b="1" i="1" dirty="0"/>
              </a:p>
              <a:p>
                <a:pPr marL="0" indent="0">
                  <a:buNone/>
                </a:pPr>
                <a:r>
                  <a:rPr lang="en-MY" sz="1600" b="1" dirty="0">
                    <a:solidFill>
                      <a:schemeClr val="accent2">
                        <a:lumMod val="60000"/>
                        <a:lumOff val="40000"/>
                      </a:schemeClr>
                    </a:solidFill>
                  </a:rPr>
                  <a:t>Elevator Simulation</a:t>
                </a:r>
              </a:p>
              <a:p>
                <a:r>
                  <a:rPr lang="en-US" sz="1400" dirty="0"/>
                  <a:t>Capacity: 15 units</a:t>
                </a:r>
                <a:endParaRPr lang="en-MY" sz="1400" dirty="0"/>
              </a:p>
              <a:p>
                <a:r>
                  <a:rPr lang="en-US" sz="1400" dirty="0"/>
                  <a:t>Moving speed: 2s/floor</a:t>
                </a:r>
                <a:endParaRPr lang="en-MY" sz="1400" dirty="0"/>
              </a:p>
              <a:p>
                <a:r>
                  <a:rPr lang="en-US" sz="1400" dirty="0"/>
                  <a:t>Load/Unload time:</a:t>
                </a:r>
              </a:p>
              <a:p>
                <a:pPr marL="0" indent="0">
                  <a:buFont typeface="Wingdings 3" charset="2"/>
                  <a:buNone/>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𝑇</m:t>
                      </m:r>
                      <m:d>
                        <m:dPr>
                          <m:ctrlPr>
                            <a:rPr lang="en-MY" sz="1400" i="1">
                              <a:latin typeface="Cambria Math" panose="02040503050406030204" pitchFamily="18" charset="0"/>
                            </a:rPr>
                          </m:ctrlPr>
                        </m:dPr>
                        <m:e>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𝑙𝑜𝑎𝑑</m:t>
                              </m:r>
                            </m:sub>
                          </m:sSub>
                          <m:r>
                            <a:rPr lang="en-US" sz="1400" i="1">
                              <a:latin typeface="Cambria Math" panose="02040503050406030204" pitchFamily="18" charset="0"/>
                            </a:rPr>
                            <m:t>,</m:t>
                          </m:r>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𝑢𝑛𝑙𝑜𝑎𝑑</m:t>
                              </m:r>
                            </m:sub>
                          </m:sSub>
                        </m:e>
                      </m:d>
                      <m:r>
                        <a:rPr lang="en-US" sz="1400" i="1">
                          <a:latin typeface="Cambria Math" panose="02040503050406030204" pitchFamily="18" charset="0"/>
                        </a:rPr>
                        <m:t>=</m:t>
                      </m:r>
                      <m:r>
                        <a:rPr lang="en-US" sz="1400" i="1">
                          <a:latin typeface="Cambria Math" panose="02040503050406030204" pitchFamily="18" charset="0"/>
                        </a:rPr>
                        <m:t>𝐶</m:t>
                      </m:r>
                      <m:r>
                        <a:rPr lang="en-US" sz="1400" i="1">
                          <a:latin typeface="Cambria Math" panose="02040503050406030204" pitchFamily="18" charset="0"/>
                        </a:rPr>
                        <m:t>+ </m:t>
                      </m:r>
                      <m:nary>
                        <m:naryPr>
                          <m:chr m:val="∑"/>
                          <m:limLoc m:val="undOvr"/>
                          <m:ctrlPr>
                            <a:rPr lang="en-MY"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=0</m:t>
                          </m:r>
                        </m:sub>
                        <m:sup>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𝑙𝑜𝑎𝑑</m:t>
                              </m:r>
                            </m:sub>
                          </m:sSub>
                          <m:r>
                            <a:rPr lang="en-US" sz="1400" i="1">
                              <a:latin typeface="Cambria Math" panose="02040503050406030204" pitchFamily="18" charset="0"/>
                            </a:rPr>
                            <m:t>−1</m:t>
                          </m:r>
                        </m:sup>
                        <m:e>
                          <m:r>
                            <a:rPr lang="en-US" sz="1400" i="1">
                              <a:latin typeface="Cambria Math" panose="02040503050406030204" pitchFamily="18" charset="0"/>
                            </a:rPr>
                            <m:t>3 × </m:t>
                          </m:r>
                          <m:sSup>
                            <m:sSupPr>
                              <m:ctrlPr>
                                <a:rPr lang="en-MY" sz="1400" i="1">
                                  <a:latin typeface="Cambria Math" panose="02040503050406030204" pitchFamily="18" charset="0"/>
                                </a:rPr>
                              </m:ctrlPr>
                            </m:sSupPr>
                            <m:e>
                              <m:r>
                                <a:rPr lang="en-US" sz="1400" i="1">
                                  <a:latin typeface="Cambria Math" panose="02040503050406030204" pitchFamily="18" charset="0"/>
                                </a:rPr>
                                <m:t>0.5</m:t>
                              </m:r>
                            </m:e>
                            <m:sup>
                              <m:r>
                                <a:rPr lang="en-US" sz="1400" i="1">
                                  <a:latin typeface="Cambria Math" panose="02040503050406030204" pitchFamily="18" charset="0"/>
                                </a:rPr>
                                <m:t>𝑘</m:t>
                              </m:r>
                            </m:sup>
                          </m:sSup>
                        </m:e>
                      </m:nary>
                      <m:r>
                        <a:rPr lang="en-US" sz="1400" i="1">
                          <a:latin typeface="Cambria Math" panose="02040503050406030204" pitchFamily="18" charset="0"/>
                        </a:rPr>
                        <m:t>+ </m:t>
                      </m:r>
                      <m:nary>
                        <m:naryPr>
                          <m:chr m:val="∑"/>
                          <m:limLoc m:val="undOvr"/>
                          <m:ctrlPr>
                            <a:rPr lang="en-MY"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=0</m:t>
                          </m:r>
                        </m:sub>
                        <m:sup>
                          <m:sSub>
                            <m:sSubPr>
                              <m:ctrlPr>
                                <a:rPr lang="en-MY" sz="1400" i="1">
                                  <a:latin typeface="Cambria Math" panose="02040503050406030204" pitchFamily="18" charset="0"/>
                                </a:rPr>
                              </m:ctrlPr>
                            </m:sSubPr>
                            <m:e>
                              <m:r>
                                <a:rPr lang="en-US" sz="1400" i="1">
                                  <a:latin typeface="Cambria Math" panose="02040503050406030204" pitchFamily="18" charset="0"/>
                                </a:rPr>
                                <m:t>𝑛</m:t>
                              </m:r>
                            </m:e>
                            <m:sub>
                              <m:r>
                                <a:rPr lang="en-US" sz="1400" i="1">
                                  <a:latin typeface="Cambria Math" panose="02040503050406030204" pitchFamily="18" charset="0"/>
                                </a:rPr>
                                <m:t>𝑢𝑛𝑙𝑜𝑎𝑑</m:t>
                              </m:r>
                            </m:sub>
                          </m:sSub>
                          <m:r>
                            <a:rPr lang="en-US" sz="1400" i="1">
                              <a:latin typeface="Cambria Math" panose="02040503050406030204" pitchFamily="18" charset="0"/>
                            </a:rPr>
                            <m:t>−1</m:t>
                          </m:r>
                        </m:sup>
                        <m:e>
                          <m:r>
                            <a:rPr lang="en-US" sz="1400" i="1">
                              <a:latin typeface="Cambria Math" panose="02040503050406030204" pitchFamily="18" charset="0"/>
                            </a:rPr>
                            <m:t>3 × </m:t>
                          </m:r>
                          <m:sSup>
                            <m:sSupPr>
                              <m:ctrlPr>
                                <a:rPr lang="en-MY" sz="1400" i="1">
                                  <a:latin typeface="Cambria Math" panose="02040503050406030204" pitchFamily="18" charset="0"/>
                                </a:rPr>
                              </m:ctrlPr>
                            </m:sSupPr>
                            <m:e>
                              <m:r>
                                <a:rPr lang="en-US" sz="1400" i="1">
                                  <a:latin typeface="Cambria Math" panose="02040503050406030204" pitchFamily="18" charset="0"/>
                                </a:rPr>
                                <m:t>0.5</m:t>
                              </m:r>
                            </m:e>
                            <m:sup>
                              <m:r>
                                <a:rPr lang="en-US" sz="1400" i="1">
                                  <a:latin typeface="Cambria Math" panose="02040503050406030204" pitchFamily="18" charset="0"/>
                                </a:rPr>
                                <m:t>𝑘</m:t>
                              </m:r>
                            </m:sup>
                          </m:sSup>
                        </m:e>
                      </m:nary>
                    </m:oMath>
                  </m:oMathPara>
                </a14:m>
                <a:endParaRPr lang="en-US" sz="1400" dirty="0"/>
              </a:p>
              <a:p>
                <a:endParaRPr lang="en-US" sz="1400" dirty="0"/>
              </a:p>
              <a:p>
                <a:r>
                  <a:rPr lang="en-GB" sz="1400" dirty="0"/>
                  <a:t>Dispatch rule: Closet Car Algorithms (CCA)</a:t>
                </a:r>
              </a:p>
              <a:p>
                <a:pPr marL="0" indent="0">
                  <a:buNone/>
                </a:pPr>
                <a:endParaRPr lang="en-GB" sz="1400" dirty="0"/>
              </a:p>
            </p:txBody>
          </p:sp>
        </mc:Choice>
        <mc:Fallback xmlns="">
          <p:sp>
            <p:nvSpPr>
              <p:cNvPr id="4" name="Content Placeholder 3">
                <a:extLst>
                  <a:ext uri="{FF2B5EF4-FFF2-40B4-BE49-F238E27FC236}">
                    <a16:creationId xmlns:a16="http://schemas.microsoft.com/office/drawing/2014/main" id="{5FD18665-18AE-A383-6052-D11DBD1EE4DF}"/>
                  </a:ext>
                </a:extLst>
              </p:cNvPr>
              <p:cNvSpPr txBox="1">
                <a:spLocks noRot="1" noChangeAspect="1" noMove="1" noResize="1" noEditPoints="1" noAdjustHandles="1" noChangeArrowheads="1" noChangeShapeType="1" noTextEdit="1"/>
              </p:cNvSpPr>
              <p:nvPr/>
            </p:nvSpPr>
            <p:spPr>
              <a:xfrm>
                <a:off x="704850" y="297180"/>
                <a:ext cx="3981450" cy="6263640"/>
              </a:xfrm>
              <a:prstGeom prst="rect">
                <a:avLst/>
              </a:prstGeom>
              <a:blipFill>
                <a:blip r:embed="rId4"/>
                <a:stretch>
                  <a:fillRect l="-919" t="-389"/>
                </a:stretch>
              </a:blipFill>
            </p:spPr>
            <p:txBody>
              <a:bodyPr/>
              <a:lstStyle/>
              <a:p>
                <a:r>
                  <a:rPr lang="en-MY">
                    <a:noFill/>
                  </a:rPr>
                  <a:t> </a:t>
                </a:r>
              </a:p>
            </p:txBody>
          </p:sp>
        </mc:Fallback>
      </mc:AlternateContent>
    </p:spTree>
    <p:extLst>
      <p:ext uri="{BB962C8B-B14F-4D97-AF65-F5344CB8AC3E}">
        <p14:creationId xmlns:p14="http://schemas.microsoft.com/office/powerpoint/2010/main" val="2042896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7B46-5D46-C16E-CD1E-5FE40E8FCBD4}"/>
              </a:ext>
            </a:extLst>
          </p:cNvPr>
          <p:cNvSpPr>
            <a:spLocks noGrp="1"/>
          </p:cNvSpPr>
          <p:nvPr>
            <p:ph type="title"/>
          </p:nvPr>
        </p:nvSpPr>
        <p:spPr/>
        <p:txBody>
          <a:bodyPr/>
          <a:lstStyle/>
          <a:p>
            <a:r>
              <a:rPr lang="en-US" altLang="zh-CN" dirty="0"/>
              <a:t>Data Simulation </a:t>
            </a:r>
            <a:endParaRPr lang="en-MY" dirty="0"/>
          </a:p>
        </p:txBody>
      </p:sp>
      <p:pic>
        <p:nvPicPr>
          <p:cNvPr id="5" name="Content Placeholder 4">
            <a:extLst>
              <a:ext uri="{FF2B5EF4-FFF2-40B4-BE49-F238E27FC236}">
                <a16:creationId xmlns:a16="http://schemas.microsoft.com/office/drawing/2014/main" id="{E4D87126-63B0-B205-E115-54F3A7C5A5B4}"/>
              </a:ext>
            </a:extLst>
          </p:cNvPr>
          <p:cNvPicPr>
            <a:picLocks noGrp="1" noChangeAspect="1"/>
          </p:cNvPicPr>
          <p:nvPr>
            <p:ph idx="1"/>
          </p:nvPr>
        </p:nvPicPr>
        <p:blipFill>
          <a:blip r:embed="rId2"/>
          <a:stretch>
            <a:fillRect/>
          </a:stretch>
        </p:blipFill>
        <p:spPr>
          <a:xfrm>
            <a:off x="0" y="1685021"/>
            <a:ext cx="6096000" cy="5172979"/>
          </a:xfrm>
        </p:spPr>
      </p:pic>
      <p:pic>
        <p:nvPicPr>
          <p:cNvPr id="7" name="Picture 6">
            <a:extLst>
              <a:ext uri="{FF2B5EF4-FFF2-40B4-BE49-F238E27FC236}">
                <a16:creationId xmlns:a16="http://schemas.microsoft.com/office/drawing/2014/main" id="{09C3F451-40B2-1BDB-E324-9E920B256960}"/>
              </a:ext>
            </a:extLst>
          </p:cNvPr>
          <p:cNvPicPr>
            <a:picLocks noChangeAspect="1"/>
          </p:cNvPicPr>
          <p:nvPr/>
        </p:nvPicPr>
        <p:blipFill>
          <a:blip r:embed="rId3"/>
          <a:stretch>
            <a:fillRect/>
          </a:stretch>
        </p:blipFill>
        <p:spPr>
          <a:xfrm>
            <a:off x="6096000" y="1441586"/>
            <a:ext cx="6096000" cy="5416414"/>
          </a:xfrm>
          <a:prstGeom prst="rect">
            <a:avLst/>
          </a:prstGeom>
        </p:spPr>
      </p:pic>
    </p:spTree>
    <p:extLst>
      <p:ext uri="{BB962C8B-B14F-4D97-AF65-F5344CB8AC3E}">
        <p14:creationId xmlns:p14="http://schemas.microsoft.com/office/powerpoint/2010/main" val="2214200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A29C-10F7-D750-8276-B3797CD0A12A}"/>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075C5F84-89CC-EBFF-2C93-FDEF65313A9D}"/>
              </a:ext>
            </a:extLst>
          </p:cNvPr>
          <p:cNvPicPr>
            <a:picLocks noGrp="1" noChangeAspect="1"/>
          </p:cNvPicPr>
          <p:nvPr>
            <p:ph idx="1"/>
          </p:nvPr>
        </p:nvPicPr>
        <p:blipFill>
          <a:blip r:embed="rId2"/>
          <a:stretch>
            <a:fillRect/>
          </a:stretch>
        </p:blipFill>
        <p:spPr>
          <a:xfrm>
            <a:off x="1" y="1685021"/>
            <a:ext cx="6096000" cy="5172979"/>
          </a:xfrm>
        </p:spPr>
      </p:pic>
      <p:pic>
        <p:nvPicPr>
          <p:cNvPr id="7" name="Picture 6">
            <a:extLst>
              <a:ext uri="{FF2B5EF4-FFF2-40B4-BE49-F238E27FC236}">
                <a16:creationId xmlns:a16="http://schemas.microsoft.com/office/drawing/2014/main" id="{31FC395B-29A8-F2AF-EA7C-CDBC8FC96941}"/>
              </a:ext>
            </a:extLst>
          </p:cNvPr>
          <p:cNvPicPr>
            <a:picLocks noChangeAspect="1"/>
          </p:cNvPicPr>
          <p:nvPr/>
        </p:nvPicPr>
        <p:blipFill>
          <a:blip r:embed="rId3"/>
          <a:stretch>
            <a:fillRect/>
          </a:stretch>
        </p:blipFill>
        <p:spPr>
          <a:xfrm>
            <a:off x="6096001" y="1379569"/>
            <a:ext cx="6096000" cy="5478431"/>
          </a:xfrm>
          <a:prstGeom prst="rect">
            <a:avLst/>
          </a:prstGeom>
        </p:spPr>
      </p:pic>
    </p:spTree>
    <p:extLst>
      <p:ext uri="{BB962C8B-B14F-4D97-AF65-F5344CB8AC3E}">
        <p14:creationId xmlns:p14="http://schemas.microsoft.com/office/powerpoint/2010/main" val="2482606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86703-DB59-D5B5-615B-528350E645E8}"/>
              </a:ext>
            </a:extLst>
          </p:cNvPr>
          <p:cNvSpPr>
            <a:spLocks noGrp="1"/>
          </p:cNvSpPr>
          <p:nvPr>
            <p:ph type="title"/>
          </p:nvPr>
        </p:nvSpPr>
        <p:spPr/>
        <p:txBody>
          <a:bodyPr/>
          <a:lstStyle/>
          <a:p>
            <a:r>
              <a:rPr lang="en-MY" dirty="0"/>
              <a:t>Machine Learning</a:t>
            </a:r>
          </a:p>
        </p:txBody>
      </p:sp>
      <p:sp>
        <p:nvSpPr>
          <p:cNvPr id="3" name="Content Placeholder 2">
            <a:extLst>
              <a:ext uri="{FF2B5EF4-FFF2-40B4-BE49-F238E27FC236}">
                <a16:creationId xmlns:a16="http://schemas.microsoft.com/office/drawing/2014/main" id="{4E78E810-E4BF-A98C-2735-2D5D85F32990}"/>
              </a:ext>
            </a:extLst>
          </p:cNvPr>
          <p:cNvSpPr>
            <a:spLocks noGrp="1"/>
          </p:cNvSpPr>
          <p:nvPr>
            <p:ph idx="1"/>
          </p:nvPr>
        </p:nvSpPr>
        <p:spPr>
          <a:xfrm>
            <a:off x="677334" y="1440180"/>
            <a:ext cx="6054936" cy="5097780"/>
          </a:xfrm>
        </p:spPr>
        <p:txBody>
          <a:bodyPr>
            <a:normAutofit lnSpcReduction="10000"/>
          </a:bodyPr>
          <a:lstStyle/>
          <a:p>
            <a:r>
              <a:rPr lang="en-MY" dirty="0"/>
              <a:t>Task type: Multi-label Classification</a:t>
            </a:r>
          </a:p>
          <a:p>
            <a:r>
              <a:rPr lang="en-MY" dirty="0"/>
              <a:t>Model: TCN</a:t>
            </a:r>
          </a:p>
          <a:p>
            <a:r>
              <a:rPr lang="en-MY" dirty="0"/>
              <a:t>Criterion: </a:t>
            </a:r>
          </a:p>
          <a:p>
            <a:pPr lvl="1"/>
            <a:r>
              <a:rPr lang="en-MY" dirty="0"/>
              <a:t>Binary Cross-Entropy (BCE) </a:t>
            </a:r>
            <a:r>
              <a:rPr lang="en-US" altLang="zh-CN" dirty="0"/>
              <a:t>with positive weight</a:t>
            </a:r>
          </a:p>
          <a:p>
            <a:pPr lvl="1"/>
            <a:r>
              <a:rPr lang="en-US" altLang="zh-CN" dirty="0"/>
              <a:t>Focal Loss</a:t>
            </a:r>
          </a:p>
          <a:p>
            <a:r>
              <a:rPr lang="en-MY" dirty="0"/>
              <a:t>Optimiser: Adam</a:t>
            </a:r>
          </a:p>
          <a:p>
            <a:r>
              <a:rPr lang="en-MY" dirty="0"/>
              <a:t>Input: </a:t>
            </a:r>
          </a:p>
          <a:p>
            <a:pPr marL="0" indent="0">
              <a:buNone/>
            </a:pPr>
            <a:r>
              <a:rPr lang="en-GB" dirty="0"/>
              <a:t>A matrix of features within a time window that consists of </a:t>
            </a:r>
            <a:r>
              <a:rPr lang="en-GB" b="1" i="1" dirty="0">
                <a:solidFill>
                  <a:schemeClr val="accent2">
                    <a:lumMod val="60000"/>
                    <a:lumOff val="40000"/>
                  </a:schemeClr>
                </a:solidFill>
              </a:rPr>
              <a:t>Timestamp</a:t>
            </a:r>
            <a:r>
              <a:rPr lang="en-GB" dirty="0"/>
              <a:t> &amp; sum of 60 time steps’(seconds) one-hot encode</a:t>
            </a:r>
            <a:r>
              <a:rPr lang="en-GB" i="1" dirty="0"/>
              <a:t> </a:t>
            </a:r>
            <a:r>
              <a:rPr lang="en-GB" b="1" i="1" dirty="0">
                <a:solidFill>
                  <a:schemeClr val="accent2">
                    <a:lumMod val="60000"/>
                    <a:lumOff val="40000"/>
                  </a:schemeClr>
                </a:solidFill>
              </a:rPr>
              <a:t>call and direction record</a:t>
            </a:r>
            <a:r>
              <a:rPr lang="en-GB" dirty="0"/>
              <a:t> of each floor in 1 hour</a:t>
            </a:r>
          </a:p>
          <a:p>
            <a:r>
              <a:rPr lang="en-MY" dirty="0"/>
              <a:t>Output: </a:t>
            </a:r>
          </a:p>
          <a:p>
            <a:pPr marL="0" indent="0">
              <a:buNone/>
            </a:pPr>
            <a:r>
              <a:rPr lang="en-US" dirty="0"/>
              <a:t>Collapsed one-hot encode </a:t>
            </a:r>
            <a:r>
              <a:rPr lang="en-US" b="1" i="1" dirty="0">
                <a:solidFill>
                  <a:schemeClr val="accent2">
                    <a:lumMod val="60000"/>
                    <a:lumOff val="40000"/>
                  </a:schemeClr>
                </a:solidFill>
              </a:rPr>
              <a:t>call and direction record</a:t>
            </a:r>
            <a:r>
              <a:rPr lang="en-US" b="1" i="1" dirty="0"/>
              <a:t> </a:t>
            </a:r>
            <a:r>
              <a:rPr lang="en-US" dirty="0"/>
              <a:t>of floors (0/1) in the future time window (5 minutes)</a:t>
            </a:r>
          </a:p>
          <a:p>
            <a:r>
              <a:rPr lang="en-MY" dirty="0"/>
              <a:t> Evaluation: Accuracy, </a:t>
            </a:r>
            <a:r>
              <a:rPr lang="en-MY" b="1" i="1" dirty="0">
                <a:solidFill>
                  <a:schemeClr val="accent2">
                    <a:lumMod val="60000"/>
                    <a:lumOff val="40000"/>
                  </a:schemeClr>
                </a:solidFill>
              </a:rPr>
              <a:t>Precision</a:t>
            </a:r>
            <a:r>
              <a:rPr lang="en-MY" dirty="0"/>
              <a:t>,</a:t>
            </a:r>
            <a:r>
              <a:rPr lang="en-MY" b="1" dirty="0"/>
              <a:t> </a:t>
            </a:r>
            <a:r>
              <a:rPr lang="en-MY" b="1" i="1" dirty="0">
                <a:solidFill>
                  <a:schemeClr val="accent2">
                    <a:lumMod val="60000"/>
                    <a:lumOff val="40000"/>
                  </a:schemeClr>
                </a:solidFill>
              </a:rPr>
              <a:t>Recall</a:t>
            </a:r>
          </a:p>
        </p:txBody>
      </p:sp>
      <p:pic>
        <p:nvPicPr>
          <p:cNvPr id="7" name="Picture 6" descr="A screenshot of a computer&#10;&#10;AI-generated content may be incorrect.">
            <a:extLst>
              <a:ext uri="{FF2B5EF4-FFF2-40B4-BE49-F238E27FC236}">
                <a16:creationId xmlns:a16="http://schemas.microsoft.com/office/drawing/2014/main" id="{43ADBB28-84C2-0079-E1CF-8472A09EE159}"/>
              </a:ext>
            </a:extLst>
          </p:cNvPr>
          <p:cNvPicPr>
            <a:picLocks noChangeAspect="1"/>
          </p:cNvPicPr>
          <p:nvPr/>
        </p:nvPicPr>
        <p:blipFill>
          <a:blip r:embed="rId2"/>
          <a:stretch>
            <a:fillRect/>
          </a:stretch>
        </p:blipFill>
        <p:spPr>
          <a:xfrm>
            <a:off x="6742688" y="1"/>
            <a:ext cx="5449312" cy="3743864"/>
          </a:xfrm>
          <a:prstGeom prst="rect">
            <a:avLst/>
          </a:prstGeom>
        </p:spPr>
      </p:pic>
      <p:pic>
        <p:nvPicPr>
          <p:cNvPr id="9" name="Picture 8" descr="A diagram of a computer program&#10;&#10;AI-generated content may be incorrect.">
            <a:extLst>
              <a:ext uri="{FF2B5EF4-FFF2-40B4-BE49-F238E27FC236}">
                <a16:creationId xmlns:a16="http://schemas.microsoft.com/office/drawing/2014/main" id="{96FEC03A-8BA7-559A-1507-FD7CDAC4FEAA}"/>
              </a:ext>
            </a:extLst>
          </p:cNvPr>
          <p:cNvPicPr>
            <a:picLocks noChangeAspect="1"/>
          </p:cNvPicPr>
          <p:nvPr/>
        </p:nvPicPr>
        <p:blipFill>
          <a:blip r:embed="rId3"/>
          <a:stretch>
            <a:fillRect/>
          </a:stretch>
        </p:blipFill>
        <p:spPr>
          <a:xfrm>
            <a:off x="6742688" y="3743865"/>
            <a:ext cx="5449312" cy="2267982"/>
          </a:xfrm>
          <a:prstGeom prst="rect">
            <a:avLst/>
          </a:prstGeom>
        </p:spPr>
      </p:pic>
    </p:spTree>
    <p:extLst>
      <p:ext uri="{BB962C8B-B14F-4D97-AF65-F5344CB8AC3E}">
        <p14:creationId xmlns:p14="http://schemas.microsoft.com/office/powerpoint/2010/main" val="206337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DA381-61BB-2B4A-507A-2239150C83AD}"/>
              </a:ext>
            </a:extLst>
          </p:cNvPr>
          <p:cNvSpPr>
            <a:spLocks noGrp="1"/>
          </p:cNvSpPr>
          <p:nvPr>
            <p:ph type="title"/>
          </p:nvPr>
        </p:nvSpPr>
        <p:spPr>
          <a:xfrm>
            <a:off x="677334" y="964541"/>
            <a:ext cx="8596668" cy="718868"/>
          </a:xfrm>
        </p:spPr>
        <p:txBody>
          <a:bodyPr/>
          <a:lstStyle/>
          <a:p>
            <a:r>
              <a:rPr lang="en-MY" dirty="0"/>
              <a:t>Model Training Details</a:t>
            </a:r>
          </a:p>
        </p:txBody>
      </p:sp>
      <p:sp>
        <p:nvSpPr>
          <p:cNvPr id="3" name="Content Placeholder 2">
            <a:extLst>
              <a:ext uri="{FF2B5EF4-FFF2-40B4-BE49-F238E27FC236}">
                <a16:creationId xmlns:a16="http://schemas.microsoft.com/office/drawing/2014/main" id="{B874A62E-C71A-B840-9780-556482FDAD4A}"/>
              </a:ext>
            </a:extLst>
          </p:cNvPr>
          <p:cNvSpPr>
            <a:spLocks noGrp="1"/>
          </p:cNvSpPr>
          <p:nvPr>
            <p:ph idx="1"/>
          </p:nvPr>
        </p:nvSpPr>
        <p:spPr>
          <a:xfrm>
            <a:off x="708964" y="1796662"/>
            <a:ext cx="8816036" cy="1609155"/>
          </a:xfrm>
        </p:spPr>
        <p:txBody>
          <a:bodyPr>
            <a:normAutofit/>
          </a:bodyPr>
          <a:lstStyle/>
          <a:p>
            <a:r>
              <a:rPr lang="en-MY" dirty="0"/>
              <a:t>Train in different hyperparameter:</a:t>
            </a:r>
          </a:p>
          <a:p>
            <a:pPr lvl="1"/>
            <a:r>
              <a:rPr lang="en-MY" dirty="0"/>
              <a:t>Learning rate scheduler Cosine Annealing &amp; Cosine Annealing </a:t>
            </a:r>
            <a:r>
              <a:rPr lang="en-US" altLang="zh-CN" dirty="0"/>
              <a:t>Warm Restart</a:t>
            </a:r>
            <a:endParaRPr lang="en-MY" dirty="0"/>
          </a:p>
          <a:p>
            <a:pPr lvl="1"/>
            <a:r>
              <a:rPr lang="en-MY" dirty="0"/>
              <a:t>BCE with </a:t>
            </a:r>
            <a:r>
              <a:rPr lang="en-MY" dirty="0" err="1"/>
              <a:t>pos_weight</a:t>
            </a:r>
            <a:r>
              <a:rPr lang="en-MY" dirty="0"/>
              <a:t> (scale into 0/0.25/0.5/0.75/1</a:t>
            </a:r>
            <a:r>
              <a:rPr lang="zh-CN" altLang="en-US" dirty="0"/>
              <a:t> </a:t>
            </a:r>
            <a:r>
              <a:rPr lang="en-MY" altLang="zh-CN" dirty="0"/>
              <a:t>or</a:t>
            </a:r>
            <a:r>
              <a:rPr lang="zh-CN" altLang="en-US" dirty="0"/>
              <a:t> </a:t>
            </a:r>
            <a:r>
              <a:rPr lang="en-MY" altLang="zh-CN" dirty="0"/>
              <a:t>clamp within 1/20/35/50/100)</a:t>
            </a:r>
          </a:p>
          <a:p>
            <a:pPr lvl="1"/>
            <a:r>
              <a:rPr lang="en-MY" dirty="0"/>
              <a:t>Focal loss (alpha = None/0.25/0.5/0.75)</a:t>
            </a:r>
          </a:p>
          <a:p>
            <a:pPr lvl="1"/>
            <a:endParaRPr lang="en-MY" dirty="0"/>
          </a:p>
        </p:txBody>
      </p:sp>
      <p:pic>
        <p:nvPicPr>
          <p:cNvPr id="52" name="Content Placeholder 4">
            <a:extLst>
              <a:ext uri="{FF2B5EF4-FFF2-40B4-BE49-F238E27FC236}">
                <a16:creationId xmlns:a16="http://schemas.microsoft.com/office/drawing/2014/main" id="{F8492F40-743B-7401-AAE8-933CCFD6F851}"/>
              </a:ext>
            </a:extLst>
          </p:cNvPr>
          <p:cNvPicPr>
            <a:picLocks noChangeAspect="1"/>
          </p:cNvPicPr>
          <p:nvPr/>
        </p:nvPicPr>
        <p:blipFill>
          <a:blip r:embed="rId2"/>
          <a:stretch>
            <a:fillRect/>
          </a:stretch>
        </p:blipFill>
        <p:spPr>
          <a:xfrm>
            <a:off x="-2" y="4586179"/>
            <a:ext cx="4064400" cy="2271821"/>
          </a:xfrm>
          <a:prstGeom prst="rect">
            <a:avLst/>
          </a:prstGeom>
        </p:spPr>
      </p:pic>
      <p:pic>
        <p:nvPicPr>
          <p:cNvPr id="53" name="Picture 52">
            <a:extLst>
              <a:ext uri="{FF2B5EF4-FFF2-40B4-BE49-F238E27FC236}">
                <a16:creationId xmlns:a16="http://schemas.microsoft.com/office/drawing/2014/main" id="{74EBA3F9-4311-A640-B33C-102DDF49B8A2}"/>
              </a:ext>
            </a:extLst>
          </p:cNvPr>
          <p:cNvPicPr>
            <a:picLocks noChangeAspect="1"/>
          </p:cNvPicPr>
          <p:nvPr/>
        </p:nvPicPr>
        <p:blipFill>
          <a:blip r:embed="rId3"/>
          <a:stretch>
            <a:fillRect/>
          </a:stretch>
        </p:blipFill>
        <p:spPr>
          <a:xfrm>
            <a:off x="4063204" y="4569702"/>
            <a:ext cx="4064400" cy="2288298"/>
          </a:xfrm>
          <a:prstGeom prst="rect">
            <a:avLst/>
          </a:prstGeom>
        </p:spPr>
      </p:pic>
      <p:pic>
        <p:nvPicPr>
          <p:cNvPr id="54" name="Picture 53">
            <a:extLst>
              <a:ext uri="{FF2B5EF4-FFF2-40B4-BE49-F238E27FC236}">
                <a16:creationId xmlns:a16="http://schemas.microsoft.com/office/drawing/2014/main" id="{1660AFEA-1F94-F45E-4FDC-21D3319B8F09}"/>
              </a:ext>
            </a:extLst>
          </p:cNvPr>
          <p:cNvPicPr>
            <a:picLocks noChangeAspect="1"/>
          </p:cNvPicPr>
          <p:nvPr/>
        </p:nvPicPr>
        <p:blipFill>
          <a:blip r:embed="rId4"/>
          <a:stretch>
            <a:fillRect/>
          </a:stretch>
        </p:blipFill>
        <p:spPr>
          <a:xfrm>
            <a:off x="8127604" y="4569702"/>
            <a:ext cx="4064400" cy="2288298"/>
          </a:xfrm>
          <a:prstGeom prst="rect">
            <a:avLst/>
          </a:prstGeom>
        </p:spPr>
      </p:pic>
    </p:spTree>
    <p:extLst>
      <p:ext uri="{BB962C8B-B14F-4D97-AF65-F5344CB8AC3E}">
        <p14:creationId xmlns:p14="http://schemas.microsoft.com/office/powerpoint/2010/main" val="1296041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BF0C3-9232-C837-2144-4DF10E06B98C}"/>
              </a:ext>
            </a:extLst>
          </p:cNvPr>
          <p:cNvSpPr>
            <a:spLocks noGrp="1"/>
          </p:cNvSpPr>
          <p:nvPr>
            <p:ph type="title"/>
          </p:nvPr>
        </p:nvSpPr>
        <p:spPr>
          <a:xfrm>
            <a:off x="115359" y="193287"/>
            <a:ext cx="8596668" cy="1320800"/>
          </a:xfrm>
        </p:spPr>
        <p:txBody>
          <a:bodyPr/>
          <a:lstStyle/>
          <a:p>
            <a:r>
              <a:rPr lang="en-MY" dirty="0"/>
              <a:t>Model Summary</a:t>
            </a:r>
          </a:p>
        </p:txBody>
      </p:sp>
      <p:pic>
        <p:nvPicPr>
          <p:cNvPr id="15" name="Picture 14">
            <a:extLst>
              <a:ext uri="{FF2B5EF4-FFF2-40B4-BE49-F238E27FC236}">
                <a16:creationId xmlns:a16="http://schemas.microsoft.com/office/drawing/2014/main" id="{E61B5114-F628-3024-6BA9-ABC11B5BB03A}"/>
              </a:ext>
            </a:extLst>
          </p:cNvPr>
          <p:cNvPicPr>
            <a:picLocks noChangeAspect="1"/>
          </p:cNvPicPr>
          <p:nvPr/>
        </p:nvPicPr>
        <p:blipFill>
          <a:blip r:embed="rId2"/>
          <a:stretch>
            <a:fillRect/>
          </a:stretch>
        </p:blipFill>
        <p:spPr>
          <a:xfrm>
            <a:off x="6773454" y="1924050"/>
            <a:ext cx="5210175" cy="3933825"/>
          </a:xfrm>
          <a:prstGeom prst="rect">
            <a:avLst/>
          </a:prstGeom>
        </p:spPr>
      </p:pic>
      <p:graphicFrame>
        <p:nvGraphicFramePr>
          <p:cNvPr id="17" name="Table 16">
            <a:extLst>
              <a:ext uri="{FF2B5EF4-FFF2-40B4-BE49-F238E27FC236}">
                <a16:creationId xmlns:a16="http://schemas.microsoft.com/office/drawing/2014/main" id="{7353AD9C-5148-72E9-7914-6CF47A53C798}"/>
              </a:ext>
            </a:extLst>
          </p:cNvPr>
          <p:cNvGraphicFramePr>
            <a:graphicFrameLocks noGrp="1"/>
          </p:cNvGraphicFramePr>
          <p:nvPr>
            <p:extLst>
              <p:ext uri="{D42A27DB-BD31-4B8C-83A1-F6EECF244321}">
                <p14:modId xmlns:p14="http://schemas.microsoft.com/office/powerpoint/2010/main" val="616707481"/>
              </p:ext>
            </p:extLst>
          </p:nvPr>
        </p:nvGraphicFramePr>
        <p:xfrm>
          <a:off x="734484" y="2002729"/>
          <a:ext cx="5575300" cy="1143000"/>
        </p:xfrm>
        <a:graphic>
          <a:graphicData uri="http://schemas.openxmlformats.org/drawingml/2006/table">
            <a:tbl>
              <a:tblPr firstRow="1">
                <a:tableStyleId>{5C22544A-7EE6-4342-B048-85BDC9FD1C3A}</a:tableStyleId>
              </a:tblPr>
              <a:tblGrid>
                <a:gridCol w="4064860">
                  <a:extLst>
                    <a:ext uri="{9D8B030D-6E8A-4147-A177-3AD203B41FA5}">
                      <a16:colId xmlns:a16="http://schemas.microsoft.com/office/drawing/2014/main" val="3110219131"/>
                    </a:ext>
                  </a:extLst>
                </a:gridCol>
                <a:gridCol w="444247">
                  <a:extLst>
                    <a:ext uri="{9D8B030D-6E8A-4147-A177-3AD203B41FA5}">
                      <a16:colId xmlns:a16="http://schemas.microsoft.com/office/drawing/2014/main" val="2183124472"/>
                    </a:ext>
                  </a:extLst>
                </a:gridCol>
                <a:gridCol w="621946">
                  <a:extLst>
                    <a:ext uri="{9D8B030D-6E8A-4147-A177-3AD203B41FA5}">
                      <a16:colId xmlns:a16="http://schemas.microsoft.com/office/drawing/2014/main" val="2771922681"/>
                    </a:ext>
                  </a:extLst>
                </a:gridCol>
                <a:gridCol w="444247">
                  <a:extLst>
                    <a:ext uri="{9D8B030D-6E8A-4147-A177-3AD203B41FA5}">
                      <a16:colId xmlns:a16="http://schemas.microsoft.com/office/drawing/2014/main" val="368497545"/>
                    </a:ext>
                  </a:extLst>
                </a:gridCol>
              </a:tblGrid>
              <a:tr h="190500">
                <a:tc>
                  <a:txBody>
                    <a:bodyPr/>
                    <a:lstStyle/>
                    <a:p>
                      <a:pPr algn="l" fontAlgn="b"/>
                      <a:r>
                        <a:rPr lang="en-MY" sz="1100" u="none" strike="noStrike" dirty="0" err="1">
                          <a:effectLst/>
                        </a:rPr>
                        <a:t>model_with_parameter</a:t>
                      </a:r>
                      <a:endParaRPr lang="en-MY"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a:effectLst/>
                        </a:rPr>
                        <a:t>acc</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a:effectLst/>
                        </a:rPr>
                        <a:t>precision</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dirty="0">
                          <a:effectLst/>
                        </a:rPr>
                        <a:t>recall</a:t>
                      </a:r>
                      <a:endParaRPr lang="en-MY"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09576976"/>
                  </a:ext>
                </a:extLst>
              </a:tr>
              <a:tr h="190500">
                <a:tc>
                  <a:txBody>
                    <a:bodyPr/>
                    <a:lstStyle/>
                    <a:p>
                      <a:pPr algn="l" fontAlgn="b"/>
                      <a:r>
                        <a:rPr lang="en-MY" sz="1100" b="1" u="none" strike="noStrike" dirty="0">
                          <a:effectLst/>
                        </a:rPr>
                        <a:t>model_training-v5_restart_focalloss_alpha_0.25</a:t>
                      </a:r>
                      <a:endParaRPr lang="en-MY"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0.9297</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0.7746</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0.1245</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00608160"/>
                  </a:ext>
                </a:extLst>
              </a:tr>
              <a:tr h="190500">
                <a:tc>
                  <a:txBody>
                    <a:bodyPr/>
                    <a:lstStyle/>
                    <a:p>
                      <a:pPr algn="l" fontAlgn="b"/>
                      <a:r>
                        <a:rPr lang="en-GB" sz="1100" u="none" strike="noStrike">
                          <a:effectLst/>
                        </a:rPr>
                        <a:t>model_training-v5_restart_focalloss_alpha_None</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0.9299</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0.6500</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dirty="0">
                          <a:effectLst/>
                        </a:rPr>
                        <a:t>0.1961</a:t>
                      </a:r>
                      <a:endParaRPr lang="en-MY"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85763685"/>
                  </a:ext>
                </a:extLst>
              </a:tr>
              <a:tr h="190500">
                <a:tc>
                  <a:txBody>
                    <a:bodyPr/>
                    <a:lstStyle/>
                    <a:p>
                      <a:pPr algn="l" fontAlgn="b"/>
                      <a:r>
                        <a:rPr lang="en-GB" sz="1100" u="none" strike="noStrike">
                          <a:effectLst/>
                        </a:rPr>
                        <a:t>model_training-v3_restart_logitsclamp_weightclamp_weight_1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0.9298</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0.6454</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0.1988</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64478783"/>
                  </a:ext>
                </a:extLst>
              </a:tr>
              <a:tr h="190500">
                <a:tc>
                  <a:txBody>
                    <a:bodyPr/>
                    <a:lstStyle/>
                    <a:p>
                      <a:pPr algn="l" fontAlgn="b"/>
                      <a:r>
                        <a:rPr lang="en-GB" sz="1100" u="none" strike="noStrike">
                          <a:effectLst/>
                        </a:rPr>
                        <a:t>model_training-v2_restart_noweightclamp_weight_0</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0.9295</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0.6403</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0.1959</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28641348"/>
                  </a:ext>
                </a:extLst>
              </a:tr>
              <a:tr h="190500">
                <a:tc>
                  <a:txBody>
                    <a:bodyPr/>
                    <a:lstStyle/>
                    <a:p>
                      <a:pPr algn="l" fontAlgn="b"/>
                      <a:r>
                        <a:rPr lang="en-MY" sz="1100" u="none" strike="noStrike">
                          <a:effectLst/>
                        </a:rPr>
                        <a:t>model_training-v5_restart_focalloss_alpha_0.5</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0.9295</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0.6393</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dirty="0">
                          <a:effectLst/>
                        </a:rPr>
                        <a:t>0.1969</a:t>
                      </a:r>
                      <a:endParaRPr lang="en-MY"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67765676"/>
                  </a:ext>
                </a:extLst>
              </a:tr>
            </a:tbl>
          </a:graphicData>
        </a:graphic>
      </p:graphicFrame>
      <p:graphicFrame>
        <p:nvGraphicFramePr>
          <p:cNvPr id="20" name="Content Placeholder 19">
            <a:extLst>
              <a:ext uri="{FF2B5EF4-FFF2-40B4-BE49-F238E27FC236}">
                <a16:creationId xmlns:a16="http://schemas.microsoft.com/office/drawing/2014/main" id="{8F26A9E2-9973-3AD4-3167-F177346F2B8F}"/>
              </a:ext>
            </a:extLst>
          </p:cNvPr>
          <p:cNvGraphicFramePr>
            <a:graphicFrameLocks noGrp="1"/>
          </p:cNvGraphicFramePr>
          <p:nvPr>
            <p:ph idx="1"/>
            <p:extLst>
              <p:ext uri="{D42A27DB-BD31-4B8C-83A1-F6EECF244321}">
                <p14:modId xmlns:p14="http://schemas.microsoft.com/office/powerpoint/2010/main" val="2830164524"/>
              </p:ext>
            </p:extLst>
          </p:nvPr>
        </p:nvGraphicFramePr>
        <p:xfrm>
          <a:off x="734484" y="3699223"/>
          <a:ext cx="5575300" cy="1143000"/>
        </p:xfrm>
        <a:graphic>
          <a:graphicData uri="http://schemas.openxmlformats.org/drawingml/2006/table">
            <a:tbl>
              <a:tblPr firstRow="1">
                <a:tableStyleId>{F5AB1C69-6EDB-4FF4-983F-18BD219EF322}</a:tableStyleId>
              </a:tblPr>
              <a:tblGrid>
                <a:gridCol w="4064860">
                  <a:extLst>
                    <a:ext uri="{9D8B030D-6E8A-4147-A177-3AD203B41FA5}">
                      <a16:colId xmlns:a16="http://schemas.microsoft.com/office/drawing/2014/main" val="1766098583"/>
                    </a:ext>
                  </a:extLst>
                </a:gridCol>
                <a:gridCol w="444247">
                  <a:extLst>
                    <a:ext uri="{9D8B030D-6E8A-4147-A177-3AD203B41FA5}">
                      <a16:colId xmlns:a16="http://schemas.microsoft.com/office/drawing/2014/main" val="3811726782"/>
                    </a:ext>
                  </a:extLst>
                </a:gridCol>
                <a:gridCol w="621946">
                  <a:extLst>
                    <a:ext uri="{9D8B030D-6E8A-4147-A177-3AD203B41FA5}">
                      <a16:colId xmlns:a16="http://schemas.microsoft.com/office/drawing/2014/main" val="1994458093"/>
                    </a:ext>
                  </a:extLst>
                </a:gridCol>
                <a:gridCol w="444247">
                  <a:extLst>
                    <a:ext uri="{9D8B030D-6E8A-4147-A177-3AD203B41FA5}">
                      <a16:colId xmlns:a16="http://schemas.microsoft.com/office/drawing/2014/main" val="4211302801"/>
                    </a:ext>
                  </a:extLst>
                </a:gridCol>
              </a:tblGrid>
              <a:tr h="190500">
                <a:tc>
                  <a:txBody>
                    <a:bodyPr/>
                    <a:lstStyle/>
                    <a:p>
                      <a:pPr algn="l" fontAlgn="b"/>
                      <a:r>
                        <a:rPr lang="en-MY" sz="1100" u="none" strike="noStrike" dirty="0" err="1">
                          <a:effectLst/>
                        </a:rPr>
                        <a:t>model_with_parameter</a:t>
                      </a:r>
                      <a:endParaRPr lang="en-MY"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dirty="0" err="1">
                          <a:effectLst/>
                        </a:rPr>
                        <a:t>acc</a:t>
                      </a:r>
                      <a:endParaRPr lang="en-MY"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a:effectLst/>
                        </a:rPr>
                        <a:t>precision</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MY" sz="1100" u="none" strike="noStrike" dirty="0">
                          <a:effectLst/>
                        </a:rPr>
                        <a:t>recall</a:t>
                      </a:r>
                      <a:endParaRPr lang="en-MY"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68893637"/>
                  </a:ext>
                </a:extLst>
              </a:tr>
              <a:tr h="190500">
                <a:tc>
                  <a:txBody>
                    <a:bodyPr/>
                    <a:lstStyle/>
                    <a:p>
                      <a:pPr algn="l" fontAlgn="b"/>
                      <a:r>
                        <a:rPr lang="en-GB" sz="1100" b="1" u="none" strike="noStrike" dirty="0">
                          <a:effectLst/>
                        </a:rPr>
                        <a:t>model_training-v2_restart_noweightclamp_weight_1</a:t>
                      </a:r>
                      <a:endParaRPr lang="en-GB" sz="11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0.7329</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0.1948</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0.7862</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08612918"/>
                  </a:ext>
                </a:extLst>
              </a:tr>
              <a:tr h="190500">
                <a:tc>
                  <a:txBody>
                    <a:bodyPr/>
                    <a:lstStyle/>
                    <a:p>
                      <a:pPr algn="l" fontAlgn="b"/>
                      <a:r>
                        <a:rPr lang="en-GB" sz="1100" u="none" strike="noStrike">
                          <a:effectLst/>
                        </a:rPr>
                        <a:t>model_training-v1_norestart_noweightclamp_weight_1</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0.7360</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0.1966</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0.7853</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87372365"/>
                  </a:ext>
                </a:extLst>
              </a:tr>
              <a:tr h="190500">
                <a:tc>
                  <a:txBody>
                    <a:bodyPr/>
                    <a:lstStyle/>
                    <a:p>
                      <a:pPr algn="l" fontAlgn="b"/>
                      <a:r>
                        <a:rPr lang="en-GB" sz="1100" u="none" strike="noStrike">
                          <a:effectLst/>
                        </a:rPr>
                        <a:t>model_training-v2_restart_noweightclamp_weight_0.75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0.7668</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0.2092</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0.7281</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7950458"/>
                  </a:ext>
                </a:extLst>
              </a:tr>
              <a:tr h="190500">
                <a:tc>
                  <a:txBody>
                    <a:bodyPr/>
                    <a:lstStyle/>
                    <a:p>
                      <a:pPr algn="l" fontAlgn="b"/>
                      <a:r>
                        <a:rPr lang="en-GB" sz="1100" u="none" strike="noStrike">
                          <a:effectLst/>
                        </a:rPr>
                        <a:t>model_training-v1_norestart_noweightclamp_weight_0.75</a:t>
                      </a:r>
                      <a:endParaRPr lang="en-GB"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0.7734</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0.2134</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0.7216</a:t>
                      </a:r>
                      <a:endParaRPr lang="en-MY"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01428100"/>
                  </a:ext>
                </a:extLst>
              </a:tr>
              <a:tr h="190500">
                <a:tc>
                  <a:txBody>
                    <a:bodyPr/>
                    <a:lstStyle/>
                    <a:p>
                      <a:pPr algn="l" fontAlgn="b"/>
                      <a:r>
                        <a:rPr lang="en-GB" sz="1100" u="none" strike="noStrike" dirty="0">
                          <a:effectLst/>
                        </a:rPr>
                        <a:t>model_training-v1_norestart_noweightclamp_weight_0.5</a:t>
                      </a:r>
                      <a:endParaRPr lang="en-GB"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0.8220</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a:effectLst/>
                        </a:rPr>
                        <a:t>0.2406</a:t>
                      </a:r>
                      <a:endParaRPr lang="en-MY"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MY" sz="1100" u="none" strike="noStrike" dirty="0">
                          <a:effectLst/>
                        </a:rPr>
                        <a:t>0.6075</a:t>
                      </a:r>
                      <a:endParaRPr lang="en-MY"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88631652"/>
                  </a:ext>
                </a:extLst>
              </a:tr>
            </a:tbl>
          </a:graphicData>
        </a:graphic>
      </p:graphicFrame>
      <p:sp>
        <p:nvSpPr>
          <p:cNvPr id="22" name="Content Placeholder 2">
            <a:extLst>
              <a:ext uri="{FF2B5EF4-FFF2-40B4-BE49-F238E27FC236}">
                <a16:creationId xmlns:a16="http://schemas.microsoft.com/office/drawing/2014/main" id="{698290C6-B5FE-341D-DC51-C70385625491}"/>
              </a:ext>
            </a:extLst>
          </p:cNvPr>
          <p:cNvSpPr txBox="1">
            <a:spLocks/>
          </p:cNvSpPr>
          <p:nvPr/>
        </p:nvSpPr>
        <p:spPr>
          <a:xfrm>
            <a:off x="270814" y="1653787"/>
            <a:ext cx="8816036" cy="262293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Models sort by precision:</a:t>
            </a:r>
          </a:p>
          <a:p>
            <a:endParaRPr lang="en-US" dirty="0"/>
          </a:p>
          <a:p>
            <a:endParaRPr lang="en-US" dirty="0"/>
          </a:p>
          <a:p>
            <a:pPr marL="0" indent="0">
              <a:buNone/>
            </a:pPr>
            <a:endParaRPr lang="en-MY" dirty="0"/>
          </a:p>
          <a:p>
            <a:r>
              <a:rPr lang="en-MY" dirty="0"/>
              <a:t>Models sort by recall:</a:t>
            </a:r>
          </a:p>
          <a:p>
            <a:pPr lvl="1"/>
            <a:endParaRPr lang="en-MY" dirty="0"/>
          </a:p>
        </p:txBody>
      </p:sp>
      <p:sp>
        <p:nvSpPr>
          <p:cNvPr id="23" name="TextBox 22">
            <a:extLst>
              <a:ext uri="{FF2B5EF4-FFF2-40B4-BE49-F238E27FC236}">
                <a16:creationId xmlns:a16="http://schemas.microsoft.com/office/drawing/2014/main" id="{C0ABBAF2-1496-1636-317E-EA7AA5292C2C}"/>
              </a:ext>
            </a:extLst>
          </p:cNvPr>
          <p:cNvSpPr txBox="1"/>
          <p:nvPr/>
        </p:nvSpPr>
        <p:spPr>
          <a:xfrm>
            <a:off x="6773454" y="5851139"/>
            <a:ext cx="2159566" cy="276999"/>
          </a:xfrm>
          <a:prstGeom prst="rect">
            <a:avLst/>
          </a:prstGeom>
          <a:noFill/>
        </p:spPr>
        <p:txBody>
          <a:bodyPr wrap="none" rtlCol="0">
            <a:spAutoFit/>
          </a:bodyPr>
          <a:lstStyle/>
          <a:p>
            <a:r>
              <a:rPr lang="en-MY" sz="1200" dirty="0"/>
              <a:t>Models plot sort by precision</a:t>
            </a:r>
          </a:p>
        </p:txBody>
      </p:sp>
      <p:cxnSp>
        <p:nvCxnSpPr>
          <p:cNvPr id="25" name="Straight Connector 24">
            <a:extLst>
              <a:ext uri="{FF2B5EF4-FFF2-40B4-BE49-F238E27FC236}">
                <a16:creationId xmlns:a16="http://schemas.microsoft.com/office/drawing/2014/main" id="{BBE44DE0-22BA-D73F-ABBC-3DCFA18D30EF}"/>
              </a:ext>
            </a:extLst>
          </p:cNvPr>
          <p:cNvCxnSpPr>
            <a:cxnSpLocks/>
          </p:cNvCxnSpPr>
          <p:nvPr/>
        </p:nvCxnSpPr>
        <p:spPr>
          <a:xfrm>
            <a:off x="8324850" y="2002729"/>
            <a:ext cx="0" cy="3493196"/>
          </a:xfrm>
          <a:prstGeom prst="line">
            <a:avLst/>
          </a:prstGeom>
          <a:ln w="28575">
            <a:solidFill>
              <a:srgbClr val="EE0000"/>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B2AA544-307F-4087-0754-A27E22D75672}"/>
              </a:ext>
            </a:extLst>
          </p:cNvPr>
          <p:cNvCxnSpPr>
            <a:cxnSpLocks/>
          </p:cNvCxnSpPr>
          <p:nvPr/>
        </p:nvCxnSpPr>
        <p:spPr>
          <a:xfrm>
            <a:off x="7181850" y="4381500"/>
            <a:ext cx="1430569" cy="0"/>
          </a:xfrm>
          <a:prstGeom prst="line">
            <a:avLst/>
          </a:prstGeom>
          <a:ln w="28575">
            <a:solidFill>
              <a:srgbClr val="EE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841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958F0-35B4-4B99-46A9-C45705C5BDF3}"/>
              </a:ext>
            </a:extLst>
          </p:cNvPr>
          <p:cNvSpPr>
            <a:spLocks noGrp="1"/>
          </p:cNvSpPr>
          <p:nvPr>
            <p:ph type="title"/>
          </p:nvPr>
        </p:nvSpPr>
        <p:spPr/>
        <p:txBody>
          <a:bodyPr/>
          <a:lstStyle/>
          <a:p>
            <a:r>
              <a:rPr lang="en-MY" dirty="0"/>
              <a:t>Improvement evaluation &amp;</a:t>
            </a:r>
            <a:br>
              <a:rPr lang="en-MY" dirty="0"/>
            </a:br>
            <a:r>
              <a:rPr lang="en-MY" dirty="0"/>
              <a:t>Cost-benefit balancing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DA2A3E-E505-3439-1AF8-2B8121294F32}"/>
                  </a:ext>
                </a:extLst>
              </p:cNvPr>
              <p:cNvSpPr>
                <a:spLocks noGrp="1"/>
              </p:cNvSpPr>
              <p:nvPr>
                <p:ph idx="1"/>
              </p:nvPr>
            </p:nvSpPr>
            <p:spPr/>
            <p:txBody>
              <a:bodyPr/>
              <a:lstStyle/>
              <a:p>
                <a:r>
                  <a:rPr lang="en-MY" dirty="0"/>
                  <a:t>Using an </a:t>
                </a:r>
                <a:r>
                  <a:rPr lang="en-MY"/>
                  <a:t>elevator simulator </a:t>
                </a:r>
                <a:r>
                  <a:rPr lang="en-MY" dirty="0"/>
                  <a:t>to run and record the waiting time, compare the average waiting time with baseline strategies (CCA, Tsai’s</a:t>
                </a:r>
                <a:r>
                  <a:rPr lang="zh-CN" altLang="en-US" dirty="0"/>
                  <a:t> </a:t>
                </a:r>
                <a:r>
                  <a:rPr lang="en-MY" altLang="zh-CN" dirty="0"/>
                  <a:t>standby</a:t>
                </a:r>
                <a:r>
                  <a:rPr lang="zh-CN" altLang="en-US" dirty="0"/>
                  <a:t> </a:t>
                </a:r>
                <a:r>
                  <a:rPr lang="en-MY" altLang="zh-CN" dirty="0"/>
                  <a:t>scoring</a:t>
                </a:r>
                <a:r>
                  <a:rPr lang="zh-CN" altLang="en-US" dirty="0"/>
                  <a:t> </a:t>
                </a:r>
                <a:r>
                  <a:rPr lang="en-MY" altLang="zh-CN" dirty="0"/>
                  <a:t>system)</a:t>
                </a:r>
              </a:p>
              <a:p>
                <a:endParaRPr lang="en-MY" dirty="0"/>
              </a:p>
              <a:p>
                <a:r>
                  <a:rPr lang="en-MY" dirty="0"/>
                  <a:t>Cost Optimisation: </a:t>
                </a:r>
              </a:p>
              <a:p>
                <a:pPr lvl="1"/>
                <a:r>
                  <a:rPr lang="en-MY" dirty="0"/>
                  <a:t>Adjusting standby threshold</a:t>
                </a:r>
              </a:p>
              <a:p>
                <a:pPr lvl="1"/>
                <a:r>
                  <a:rPr lang="en-US" altLang="zh-CN" dirty="0"/>
                  <a:t>Implement probability decay:      </a:t>
                </a:r>
                <a14:m>
                  <m:oMath xmlns:m="http://schemas.openxmlformats.org/officeDocument/2006/math">
                    <m:sSup>
                      <m:sSupPr>
                        <m:ctrlPr>
                          <a:rPr lang="en-MY"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MY" i="1">
                            <a:latin typeface="Cambria Math" panose="02040503050406030204" pitchFamily="18" charset="0"/>
                          </a:rPr>
                        </m:ctrlPr>
                      </m:dPr>
                      <m:e>
                        <m:r>
                          <a:rPr lang="en-US" i="1">
                            <a:latin typeface="Cambria Math" panose="02040503050406030204" pitchFamily="18" charset="0"/>
                          </a:rPr>
                          <m:t>𝑑</m:t>
                        </m:r>
                      </m:e>
                    </m:d>
                    <m:r>
                      <a:rPr lang="en-US" i="1">
                        <a:latin typeface="Cambria Math" panose="02040503050406030204" pitchFamily="18" charset="0"/>
                      </a:rPr>
                      <m:t>=</m:t>
                    </m:r>
                    <m:r>
                      <a:rPr lang="en-US" i="1">
                        <a:latin typeface="Cambria Math" panose="02040503050406030204" pitchFamily="18" charset="0"/>
                      </a:rPr>
                      <m:t>𝑃</m:t>
                    </m:r>
                    <m:r>
                      <a:rPr lang="en-US" i="1">
                        <a:latin typeface="Cambria Math" panose="02040503050406030204" pitchFamily="18" charset="0"/>
                      </a:rPr>
                      <m:t>×</m:t>
                    </m:r>
                    <m:sSup>
                      <m:sSupPr>
                        <m:ctrlPr>
                          <a:rPr lang="en-MY"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𝑑</m:t>
                        </m:r>
                      </m:sup>
                    </m:sSup>
                  </m:oMath>
                </a14:m>
                <a:endParaRPr lang="en-MY" dirty="0"/>
              </a:p>
              <a:p>
                <a:endParaRPr lang="en-MY" dirty="0"/>
              </a:p>
              <a:p>
                <a:endParaRPr lang="en-MY" dirty="0"/>
              </a:p>
            </p:txBody>
          </p:sp>
        </mc:Choice>
        <mc:Fallback xmlns="">
          <p:sp>
            <p:nvSpPr>
              <p:cNvPr id="3" name="Content Placeholder 2">
                <a:extLst>
                  <a:ext uri="{FF2B5EF4-FFF2-40B4-BE49-F238E27FC236}">
                    <a16:creationId xmlns:a16="http://schemas.microsoft.com/office/drawing/2014/main" id="{78DA2A3E-E505-3439-1AF8-2B8121294F32}"/>
                  </a:ext>
                </a:extLst>
              </p:cNvPr>
              <p:cNvSpPr>
                <a:spLocks noGrp="1" noRot="1" noChangeAspect="1" noMove="1" noResize="1" noEditPoints="1" noAdjustHandles="1" noChangeArrowheads="1" noChangeShapeType="1" noTextEdit="1"/>
              </p:cNvSpPr>
              <p:nvPr>
                <p:ph idx="1"/>
              </p:nvPr>
            </p:nvSpPr>
            <p:spPr>
              <a:blipFill>
                <a:blip r:embed="rId2"/>
                <a:stretch>
                  <a:fillRect l="-142" t="-942"/>
                </a:stretch>
              </a:blipFill>
            </p:spPr>
            <p:txBody>
              <a:bodyPr/>
              <a:lstStyle/>
              <a:p>
                <a:r>
                  <a:rPr lang="en-MY">
                    <a:noFill/>
                  </a:rPr>
                  <a:t> </a:t>
                </a:r>
              </a:p>
            </p:txBody>
          </p:sp>
        </mc:Fallback>
      </mc:AlternateContent>
    </p:spTree>
    <p:extLst>
      <p:ext uri="{BB962C8B-B14F-4D97-AF65-F5344CB8AC3E}">
        <p14:creationId xmlns:p14="http://schemas.microsoft.com/office/powerpoint/2010/main" val="2035448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094DF-DF41-85E7-9BA7-137244CA58AF}"/>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DBA3943D-DE4A-8857-6697-03A047B5E8FB}"/>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3059890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FD2B-8EF7-7711-57F2-9437DE03659B}"/>
              </a:ext>
            </a:extLst>
          </p:cNvPr>
          <p:cNvSpPr>
            <a:spLocks noGrp="1"/>
          </p:cNvSpPr>
          <p:nvPr>
            <p:ph type="title"/>
          </p:nvPr>
        </p:nvSpPr>
        <p:spPr>
          <a:xfrm>
            <a:off x="677334" y="2700867"/>
            <a:ext cx="8908099" cy="1826581"/>
          </a:xfrm>
        </p:spPr>
        <p:txBody>
          <a:bodyPr/>
          <a:lstStyle/>
          <a:p>
            <a:r>
              <a:rPr lang="en-MY" dirty="0"/>
              <a:t>PROJECT MANAGEMENT AND TIMELINE</a:t>
            </a:r>
          </a:p>
        </p:txBody>
      </p:sp>
      <p:sp>
        <p:nvSpPr>
          <p:cNvPr id="3" name="Text Placeholder 2">
            <a:extLst>
              <a:ext uri="{FF2B5EF4-FFF2-40B4-BE49-F238E27FC236}">
                <a16:creationId xmlns:a16="http://schemas.microsoft.com/office/drawing/2014/main" id="{19E002C2-D0B3-31C1-7D87-10EE7B8588B0}"/>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056219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BB75-31A7-BF96-6147-35E1E5CC25FB}"/>
              </a:ext>
            </a:extLst>
          </p:cNvPr>
          <p:cNvSpPr>
            <a:spLocks noGrp="1"/>
          </p:cNvSpPr>
          <p:nvPr>
            <p:ph type="title"/>
          </p:nvPr>
        </p:nvSpPr>
        <p:spPr/>
        <p:txBody>
          <a:bodyPr/>
          <a:lstStyle/>
          <a:p>
            <a:r>
              <a:rPr lang="en-MY" dirty="0"/>
              <a:t>G</a:t>
            </a:r>
            <a:r>
              <a:rPr lang="en-US" altLang="zh-CN" dirty="0" err="1"/>
              <a:t>antt</a:t>
            </a:r>
            <a:r>
              <a:rPr lang="en-US" altLang="zh-CN" dirty="0"/>
              <a:t> Chart</a:t>
            </a:r>
            <a:endParaRPr lang="en-MY" dirty="0"/>
          </a:p>
        </p:txBody>
      </p:sp>
      <p:graphicFrame>
        <p:nvGraphicFramePr>
          <p:cNvPr id="5" name="Content Placeholder 4">
            <a:extLst>
              <a:ext uri="{FF2B5EF4-FFF2-40B4-BE49-F238E27FC236}">
                <a16:creationId xmlns:a16="http://schemas.microsoft.com/office/drawing/2014/main" id="{411A1B88-B295-CC6C-57F0-A504C329D488}"/>
              </a:ext>
            </a:extLst>
          </p:cNvPr>
          <p:cNvGraphicFramePr>
            <a:graphicFrameLocks noGrp="1" noChangeAspect="1"/>
          </p:cNvGraphicFramePr>
          <p:nvPr>
            <p:ph idx="1"/>
            <p:extLst>
              <p:ext uri="{D42A27DB-BD31-4B8C-83A1-F6EECF244321}">
                <p14:modId xmlns:p14="http://schemas.microsoft.com/office/powerpoint/2010/main" val="3340640109"/>
              </p:ext>
            </p:extLst>
          </p:nvPr>
        </p:nvGraphicFramePr>
        <p:xfrm>
          <a:off x="601134" y="1701800"/>
          <a:ext cx="9066741" cy="3140199"/>
        </p:xfrm>
        <a:graphic>
          <a:graphicData uri="http://schemas.openxmlformats.org/presentationml/2006/ole">
            <mc:AlternateContent xmlns:mc="http://schemas.openxmlformats.org/markup-compatibility/2006">
              <mc:Choice xmlns:v="urn:schemas-microsoft-com:vml" Requires="v">
                <p:oleObj name="Worksheet" r:id="rId2" imgW="10725086" imgH="3714648" progId="Excel.Sheet.12">
                  <p:embed/>
                </p:oleObj>
              </mc:Choice>
              <mc:Fallback>
                <p:oleObj name="Worksheet" r:id="rId2" imgW="10725086" imgH="3714648" progId="Excel.Sheet.12">
                  <p:embed/>
                  <p:pic>
                    <p:nvPicPr>
                      <p:cNvPr id="5" name="Content Placeholder 4">
                        <a:extLst>
                          <a:ext uri="{FF2B5EF4-FFF2-40B4-BE49-F238E27FC236}">
                            <a16:creationId xmlns:a16="http://schemas.microsoft.com/office/drawing/2014/main" id="{411A1B88-B295-CC6C-57F0-A504C329D488}"/>
                          </a:ext>
                        </a:extLst>
                      </p:cNvPr>
                      <p:cNvPicPr/>
                      <p:nvPr/>
                    </p:nvPicPr>
                    <p:blipFill>
                      <a:blip r:embed="rId3"/>
                      <a:stretch>
                        <a:fillRect/>
                      </a:stretch>
                    </p:blipFill>
                    <p:spPr>
                      <a:xfrm>
                        <a:off x="601134" y="1701800"/>
                        <a:ext cx="9066741" cy="3140199"/>
                      </a:xfrm>
                      <a:prstGeom prst="rect">
                        <a:avLst/>
                      </a:prstGeom>
                    </p:spPr>
                  </p:pic>
                </p:oleObj>
              </mc:Fallback>
            </mc:AlternateContent>
          </a:graphicData>
        </a:graphic>
      </p:graphicFrame>
    </p:spTree>
    <p:extLst>
      <p:ext uri="{BB962C8B-B14F-4D97-AF65-F5344CB8AC3E}">
        <p14:creationId xmlns:p14="http://schemas.microsoft.com/office/powerpoint/2010/main" val="2005308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F42F-2E82-8085-F322-27F797F35B07}"/>
              </a:ext>
            </a:extLst>
          </p:cNvPr>
          <p:cNvSpPr>
            <a:spLocks noGrp="1"/>
          </p:cNvSpPr>
          <p:nvPr>
            <p:ph type="title"/>
          </p:nvPr>
        </p:nvSpPr>
        <p:spPr/>
        <p:txBody>
          <a:bodyPr/>
          <a:lstStyle/>
          <a:p>
            <a:r>
              <a:rPr lang="en-MY" dirty="0" err="1"/>
              <a:t>Refference</a:t>
            </a:r>
            <a:endParaRPr lang="en-MY" dirty="0"/>
          </a:p>
        </p:txBody>
      </p:sp>
      <p:sp>
        <p:nvSpPr>
          <p:cNvPr id="3" name="Content Placeholder 2">
            <a:extLst>
              <a:ext uri="{FF2B5EF4-FFF2-40B4-BE49-F238E27FC236}">
                <a16:creationId xmlns:a16="http://schemas.microsoft.com/office/drawing/2014/main" id="{0ECBC085-0D37-A451-9931-83AE0BAA7F00}"/>
              </a:ext>
            </a:extLst>
          </p:cNvPr>
          <p:cNvSpPr>
            <a:spLocks noGrp="1"/>
          </p:cNvSpPr>
          <p:nvPr>
            <p:ph idx="1"/>
          </p:nvPr>
        </p:nvSpPr>
        <p:spPr>
          <a:xfrm>
            <a:off x="677334" y="1398495"/>
            <a:ext cx="9022478" cy="5325034"/>
          </a:xfrm>
        </p:spPr>
        <p:txBody>
          <a:bodyPr>
            <a:normAutofit fontScale="62500" lnSpcReduction="20000"/>
          </a:bodyPr>
          <a:lstStyle/>
          <a:p>
            <a:r>
              <a:rPr lang="en-US" dirty="0"/>
              <a:t>Wang, S., Gong, X., Song, M., Fei, C. Y., </a:t>
            </a:r>
            <a:r>
              <a:rPr lang="en-US" dirty="0" err="1"/>
              <a:t>Quaadgras</a:t>
            </a:r>
            <a:r>
              <a:rPr lang="en-US" dirty="0"/>
              <a:t>, S., Peng, J., ... &amp; Jiao, R. J. (2021). Smart dispatching and optimal elevator group control through real-time occupancy-aware deep learning of usage patterns. </a:t>
            </a:r>
            <a:r>
              <a:rPr lang="en-US" i="1" dirty="0"/>
              <a:t>Advanced Engineering Informatics</a:t>
            </a:r>
            <a:r>
              <a:rPr lang="en-US" dirty="0"/>
              <a:t>, </a:t>
            </a:r>
            <a:r>
              <a:rPr lang="en-US" i="1" dirty="0"/>
              <a:t>48</a:t>
            </a:r>
            <a:r>
              <a:rPr lang="en-US" dirty="0"/>
              <a:t>, 101286. </a:t>
            </a:r>
            <a:r>
              <a:rPr lang="en-US" u="sng" dirty="0">
                <a:hlinkClick r:id="rId2"/>
              </a:rPr>
              <a:t>https://doi.org/10.1016/j.aei.2021.101286</a:t>
            </a:r>
            <a:r>
              <a:rPr lang="en-US" dirty="0"/>
              <a:t> </a:t>
            </a:r>
            <a:endParaRPr lang="en-MY" dirty="0"/>
          </a:p>
          <a:p>
            <a:r>
              <a:rPr lang="en-US" dirty="0"/>
              <a:t>Crites, R., &amp; Barto, A. (1995). Improving elevator performance using reinforcement learning. </a:t>
            </a:r>
            <a:r>
              <a:rPr lang="en-US" i="1" dirty="0"/>
              <a:t>Advances in neural information processing systems</a:t>
            </a:r>
            <a:r>
              <a:rPr lang="en-US" dirty="0"/>
              <a:t>, </a:t>
            </a:r>
            <a:r>
              <a:rPr lang="en-US" i="1" dirty="0"/>
              <a:t>8</a:t>
            </a:r>
            <a:r>
              <a:rPr lang="en-US" dirty="0"/>
              <a:t>. </a:t>
            </a:r>
            <a:r>
              <a:rPr lang="en-US" u="sng" dirty="0">
                <a:hlinkClick r:id="rId3"/>
              </a:rPr>
              <a:t>http://papers.nips.cc/paper/1073-improving-elevator-performance-using-reinforcement-learning.pdf</a:t>
            </a:r>
            <a:r>
              <a:rPr lang="en-US" dirty="0"/>
              <a:t> </a:t>
            </a:r>
            <a:endParaRPr lang="en-MY" dirty="0"/>
          </a:p>
          <a:p>
            <a:r>
              <a:rPr lang="en-US" dirty="0"/>
              <a:t>Tsai, I. N., Wu, Y. X., Huang, Y. H., Chen, Y. C., &amp; Ding, J. J. (2025). Optimization of Elevator Standby Scheduling Strategy in Smart Buildings. Applied System Innovation, 8(5), 132. </a:t>
            </a:r>
            <a:r>
              <a:rPr lang="en-US" u="sng" dirty="0">
                <a:hlinkClick r:id="rId4"/>
              </a:rPr>
              <a:t>https://doi.org/10.3390/asi8050132</a:t>
            </a:r>
            <a:r>
              <a:rPr lang="en-US" dirty="0"/>
              <a:t> </a:t>
            </a:r>
            <a:endParaRPr lang="en-MY" dirty="0"/>
          </a:p>
          <a:p>
            <a:r>
              <a:rPr lang="en-US" dirty="0"/>
              <a:t>Zhang, J., </a:t>
            </a:r>
            <a:r>
              <a:rPr lang="en-US" dirty="0" err="1"/>
              <a:t>Tsiligkaridis</a:t>
            </a:r>
            <a:r>
              <a:rPr lang="en-US" dirty="0"/>
              <a:t>, A., Taguchi, H., Raghunathan, A., &amp; </a:t>
            </a:r>
            <a:r>
              <a:rPr lang="en-US" dirty="0" err="1"/>
              <a:t>Nikovski</a:t>
            </a:r>
            <a:r>
              <a:rPr lang="en-US" dirty="0"/>
              <a:t>, D. (2022). Transformer networks for predictive group elevator control. </a:t>
            </a:r>
            <a:r>
              <a:rPr lang="en-US" i="1" dirty="0"/>
              <a:t>2022 European Control Conference (ECC)</a:t>
            </a:r>
            <a:r>
              <a:rPr lang="en-US" dirty="0"/>
              <a:t>, 1429–1435. </a:t>
            </a:r>
            <a:r>
              <a:rPr lang="en-US" u="sng" dirty="0">
                <a:hlinkClick r:id="rId5"/>
              </a:rPr>
              <a:t>https://doi.org/10.23919/ecc55457.2022.9838059</a:t>
            </a:r>
            <a:r>
              <a:rPr lang="en-US" dirty="0"/>
              <a:t> </a:t>
            </a:r>
            <a:endParaRPr lang="en-MY" dirty="0"/>
          </a:p>
          <a:p>
            <a:r>
              <a:rPr lang="en-MY" dirty="0" err="1"/>
              <a:t>Sherstinsky</a:t>
            </a:r>
            <a:r>
              <a:rPr lang="en-MY" dirty="0"/>
              <a:t>, A. (2020). Fundamentals of Recurrent Neural Network (RNN) and Long Short-Term Memory (LSTM) network. </a:t>
            </a:r>
            <a:r>
              <a:rPr lang="en-MY" i="1" dirty="0"/>
              <a:t>Physica D Nonlinear Phenomena</a:t>
            </a:r>
            <a:r>
              <a:rPr lang="en-MY" dirty="0"/>
              <a:t>, </a:t>
            </a:r>
            <a:r>
              <a:rPr lang="en-MY" i="1" dirty="0"/>
              <a:t>404</a:t>
            </a:r>
            <a:r>
              <a:rPr lang="en-MY" dirty="0"/>
              <a:t>, 132306. </a:t>
            </a:r>
            <a:r>
              <a:rPr lang="en-MY" u="sng" dirty="0">
                <a:hlinkClick r:id="rId6"/>
              </a:rPr>
              <a:t>https://doi.org/10.1016/j.physd.2019.132306</a:t>
            </a:r>
            <a:r>
              <a:rPr lang="en-MY" dirty="0"/>
              <a:t> </a:t>
            </a:r>
          </a:p>
          <a:p>
            <a:r>
              <a:rPr lang="en-MY" dirty="0"/>
              <a:t>Fatima, S. S. W., &amp; Rahimi, A. (2024). A review of Time-Series Forecasting Algorithms for Industrial Manufacturing Systems. </a:t>
            </a:r>
            <a:r>
              <a:rPr lang="en-MY" i="1" dirty="0"/>
              <a:t>Machines</a:t>
            </a:r>
            <a:r>
              <a:rPr lang="en-MY" dirty="0"/>
              <a:t>, </a:t>
            </a:r>
            <a:r>
              <a:rPr lang="en-MY" i="1" dirty="0"/>
              <a:t>12</a:t>
            </a:r>
            <a:r>
              <a:rPr lang="en-MY" dirty="0"/>
              <a:t>(6), 380. </a:t>
            </a:r>
            <a:r>
              <a:rPr lang="en-MY" u="sng" dirty="0">
                <a:hlinkClick r:id="rId7"/>
              </a:rPr>
              <a:t>https://doi.org/10.3390/machines12060380</a:t>
            </a:r>
            <a:r>
              <a:rPr lang="en-US" dirty="0"/>
              <a:t> </a:t>
            </a:r>
            <a:endParaRPr lang="en-MY" dirty="0"/>
          </a:p>
          <a:p>
            <a:r>
              <a:rPr lang="en-MY" dirty="0"/>
              <a:t>Kim, D. (2023, July 23). </a:t>
            </a:r>
            <a:r>
              <a:rPr lang="en-MY" i="1" dirty="0"/>
              <a:t>Temporal Convolutional Networks - Architectures and Applications: Investigating temporal convolutional networks (TCNs) and their applications in </a:t>
            </a:r>
            <a:r>
              <a:rPr lang="en-MY" i="1" dirty="0" err="1"/>
              <a:t>modeling</a:t>
            </a:r>
            <a:r>
              <a:rPr lang="en-MY" i="1" dirty="0"/>
              <a:t> sequential data with long-range dependencies</a:t>
            </a:r>
            <a:r>
              <a:rPr lang="en-MY" dirty="0"/>
              <a:t>. </a:t>
            </a:r>
            <a:r>
              <a:rPr lang="en-MY" u="sng" dirty="0">
                <a:hlinkClick r:id="rId8"/>
              </a:rPr>
              <a:t>https://aimlstudies.co.uk/index.php/jaira/article/view/70/</a:t>
            </a:r>
            <a:r>
              <a:rPr lang="en-MY" dirty="0"/>
              <a:t> </a:t>
            </a:r>
          </a:p>
          <a:p>
            <a:r>
              <a:rPr lang="en-MY" dirty="0"/>
              <a:t>Kong, X., Chen, Z., Liu, W., Ning, K., Zhang, L., Marier, S. M., Liu, Y., Chen, Y., &amp; Xia, F. (2025). Deep learning for time series forecasting: a survey. </a:t>
            </a:r>
            <a:r>
              <a:rPr lang="en-MY" i="1" dirty="0"/>
              <a:t>International Journal of Machine Learning and Cybernetics</a:t>
            </a:r>
            <a:r>
              <a:rPr lang="en-MY" dirty="0"/>
              <a:t>. </a:t>
            </a:r>
            <a:r>
              <a:rPr lang="en-MY" u="sng" dirty="0">
                <a:hlinkClick r:id="rId9"/>
              </a:rPr>
              <a:t>https://doi.org/10.1007/s13042-025-02560-w</a:t>
            </a:r>
            <a:r>
              <a:rPr lang="en-MY" dirty="0"/>
              <a:t> </a:t>
            </a:r>
          </a:p>
          <a:p>
            <a:r>
              <a:rPr lang="en-MY" dirty="0"/>
              <a:t>Zhang, W., Jha, D. K., </a:t>
            </a:r>
            <a:r>
              <a:rPr lang="en-MY" dirty="0" err="1"/>
              <a:t>Laftchiev</a:t>
            </a:r>
            <a:r>
              <a:rPr lang="en-MY" dirty="0"/>
              <a:t>, E., &amp; </a:t>
            </a:r>
            <a:r>
              <a:rPr lang="en-MY" dirty="0" err="1"/>
              <a:t>Nikovski</a:t>
            </a:r>
            <a:r>
              <a:rPr lang="en-MY" dirty="0"/>
              <a:t>, D. (2019). Multi-label Prediction in Time Series Data using Deep Neural Networks. </a:t>
            </a:r>
            <a:r>
              <a:rPr lang="en-MY" i="1" dirty="0"/>
              <a:t>International Journal of Prognostics and Health Management</a:t>
            </a:r>
            <a:r>
              <a:rPr lang="en-MY" dirty="0"/>
              <a:t>, </a:t>
            </a:r>
            <a:r>
              <a:rPr lang="en-MY" i="1" dirty="0"/>
              <a:t>10</a:t>
            </a:r>
            <a:r>
              <a:rPr lang="en-MY" dirty="0"/>
              <a:t>(4). </a:t>
            </a:r>
            <a:r>
              <a:rPr lang="en-MY" u="sng" dirty="0">
                <a:hlinkClick r:id="rId10"/>
              </a:rPr>
              <a:t>https://doi.org/10.36001/ijphm.2019.v10i4.2611</a:t>
            </a:r>
            <a:r>
              <a:rPr lang="en-MY" dirty="0"/>
              <a:t> </a:t>
            </a:r>
          </a:p>
          <a:p>
            <a:r>
              <a:rPr lang="en-MY" dirty="0"/>
              <a:t>Nanni, L., </a:t>
            </a:r>
            <a:r>
              <a:rPr lang="en-MY" dirty="0" err="1"/>
              <a:t>Lumini</a:t>
            </a:r>
            <a:r>
              <a:rPr lang="en-MY" dirty="0"/>
              <a:t>, A., </a:t>
            </a:r>
            <a:r>
              <a:rPr lang="en-MY" dirty="0" err="1"/>
              <a:t>Manfe</a:t>
            </a:r>
            <a:r>
              <a:rPr lang="en-MY" dirty="0"/>
              <a:t>, A., </a:t>
            </a:r>
            <a:r>
              <a:rPr lang="en-MY" dirty="0" err="1"/>
              <a:t>Rampon</a:t>
            </a:r>
            <a:r>
              <a:rPr lang="en-MY" dirty="0"/>
              <a:t>, R., </a:t>
            </a:r>
            <a:r>
              <a:rPr lang="en-MY" dirty="0" err="1"/>
              <a:t>Brahnam</a:t>
            </a:r>
            <a:r>
              <a:rPr lang="en-MY" dirty="0"/>
              <a:t>, S., &amp; Venturin, G. (2021). Gated recurrent units and temporal convolutional network for multilabel classification. </a:t>
            </a:r>
            <a:r>
              <a:rPr lang="en-MY" i="1" dirty="0" err="1"/>
              <a:t>arXiv</a:t>
            </a:r>
            <a:r>
              <a:rPr lang="en-MY" i="1" dirty="0"/>
              <a:t> (Cornell University)</a:t>
            </a:r>
            <a:r>
              <a:rPr lang="en-MY" dirty="0"/>
              <a:t>. </a:t>
            </a:r>
            <a:r>
              <a:rPr lang="en-MY" u="sng" dirty="0">
                <a:hlinkClick r:id="rId11"/>
              </a:rPr>
              <a:t>https://doi.org/10.48550/arxiv.2110.04414</a:t>
            </a:r>
            <a:r>
              <a:rPr lang="en-MY" dirty="0"/>
              <a:t> </a:t>
            </a:r>
          </a:p>
        </p:txBody>
      </p:sp>
    </p:spTree>
    <p:extLst>
      <p:ext uri="{BB962C8B-B14F-4D97-AF65-F5344CB8AC3E}">
        <p14:creationId xmlns:p14="http://schemas.microsoft.com/office/powerpoint/2010/main" val="9460939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8684</TotalTime>
  <Words>2743</Words>
  <Application>Microsoft Office PowerPoint</Application>
  <PresentationFormat>Widescreen</PresentationFormat>
  <Paragraphs>256</Paragraphs>
  <Slides>25</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4" baseType="lpstr">
      <vt:lpstr>Aptos Narrow</vt:lpstr>
      <vt:lpstr>Arial</vt:lpstr>
      <vt:lpstr>Calibri</vt:lpstr>
      <vt:lpstr>Cambria Math</vt:lpstr>
      <vt:lpstr>Times New Roman</vt:lpstr>
      <vt:lpstr>Trebuchet MS</vt:lpstr>
      <vt:lpstr>Wingdings 3</vt:lpstr>
      <vt:lpstr>Facet</vt:lpstr>
      <vt:lpstr>Worksheet</vt:lpstr>
      <vt:lpstr>Predictive Standby Dispatch:  Machine Learning-based Smart Elevator Idle Positioning</vt:lpstr>
      <vt:lpstr>INTRODUCTION</vt:lpstr>
      <vt:lpstr>PowerPoint Presentation</vt:lpstr>
      <vt:lpstr>INTRODUCTION</vt:lpstr>
      <vt:lpstr>Solution:  Elevator’s Predictive Standby Dispatch </vt:lpstr>
      <vt:lpstr>Problem Statement, Research Questions &amp; Objectives</vt:lpstr>
      <vt:lpstr>PROBLEM STATEMENT</vt:lpstr>
      <vt:lpstr>RESEARCH QUESTION</vt:lpstr>
      <vt:lpstr>RESEARCH OBJECTIVE </vt:lpstr>
      <vt:lpstr>LITERTURE REVIEW</vt:lpstr>
      <vt:lpstr>PowerPoint Presentation</vt:lpstr>
      <vt:lpstr>PowerPoint Presentation</vt:lpstr>
      <vt:lpstr>METHODOLOGY</vt:lpstr>
      <vt:lpstr>DATA &amp; ENVIRONMENT SIMULATIONS</vt:lpstr>
      <vt:lpstr>PowerPoint Presentation</vt:lpstr>
      <vt:lpstr>Data Simulation </vt:lpstr>
      <vt:lpstr>PowerPoint Presentation</vt:lpstr>
      <vt:lpstr>Machine Learning</vt:lpstr>
      <vt:lpstr>Model Training Details</vt:lpstr>
      <vt:lpstr>Model Summary</vt:lpstr>
      <vt:lpstr>Improvement evaluation &amp; Cost-benefit balancing</vt:lpstr>
      <vt:lpstr>PowerPoint Presentation</vt:lpstr>
      <vt:lpstr>PROJECT MANAGEMENT AND TIMELINE</vt:lpstr>
      <vt:lpstr>Gantt Chart</vt:lpstr>
      <vt:lpstr>Refference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Standby Dispatch:  Machine Learning-based Smart Elevator Idle Positioning</dc:title>
  <dc:creator>Ten Yee Chern</dc:creator>
  <cp:lastModifiedBy>TEN YEE CHERN</cp:lastModifiedBy>
  <cp:revision>17</cp:revision>
  <dcterms:created xsi:type="dcterms:W3CDTF">2025-10-19T06:37:09Z</dcterms:created>
  <dcterms:modified xsi:type="dcterms:W3CDTF">2025-12-20T07:54:34Z</dcterms:modified>
</cp:coreProperties>
</file>